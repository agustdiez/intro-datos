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Roboto Medium"/>
      <p:regular r:id="rId50"/>
      <p:bold r:id="rId51"/>
      <p:italic r:id="rId52"/>
      <p:boldItalic r:id="rId53"/>
    </p:embeddedFont>
    <p:embeddedFont>
      <p:font typeface="Roboto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8" roundtripDataSignature="AMtx7mjUVQkLGG56Yeow1kOFkD/Khana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edium-bold.fntdata"/><Relationship Id="rId50" Type="http://schemas.openxmlformats.org/officeDocument/2006/relationships/font" Target="fonts/RobotoMedium-regular.fntdata"/><Relationship Id="rId53" Type="http://schemas.openxmlformats.org/officeDocument/2006/relationships/font" Target="fonts/RobotoMedium-boldItalic.fntdata"/><Relationship Id="rId52" Type="http://schemas.openxmlformats.org/officeDocument/2006/relationships/font" Target="fonts/RobotoMedium-italic.fntdata"/><Relationship Id="rId11" Type="http://schemas.openxmlformats.org/officeDocument/2006/relationships/slide" Target="slides/slide6.xml"/><Relationship Id="rId55" Type="http://schemas.openxmlformats.org/officeDocument/2006/relationships/font" Target="fonts/Roboto-bold.fntdata"/><Relationship Id="rId10" Type="http://schemas.openxmlformats.org/officeDocument/2006/relationships/slide" Target="slides/slide5.xml"/><Relationship Id="rId54" Type="http://schemas.openxmlformats.org/officeDocument/2006/relationships/font" Target="fonts/Roboto-regular.fntdata"/><Relationship Id="rId13" Type="http://schemas.openxmlformats.org/officeDocument/2006/relationships/slide" Target="slides/slide8.xml"/><Relationship Id="rId57" Type="http://schemas.openxmlformats.org/officeDocument/2006/relationships/font" Target="fonts/Roboto-boldItalic.fntdata"/><Relationship Id="rId12" Type="http://schemas.openxmlformats.org/officeDocument/2006/relationships/slide" Target="slides/slide7.xml"/><Relationship Id="rId56" Type="http://schemas.openxmlformats.org/officeDocument/2006/relationships/font" Target="fonts/Robo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3f1c5737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2e3f1c5737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hyperlink" Target="https://www.youtube.com/watch?v=hU4viZzTaRc" TargetMode="External"/><Relationship Id="rId5" Type="http://schemas.openxmlformats.org/officeDocument/2006/relationships/image" Target="../media/image16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hyperlink" Target="https://www.sciencedirect.com/science/article/pii/S1876034120305633#fig0005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Relationship Id="rId4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www.youtube.com/watch?v=HS1wV9NMLr8" TargetMode="External"/><Relationship Id="rId4" Type="http://schemas.openxmlformats.org/officeDocument/2006/relationships/image" Target="../media/image1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www.youtube.com/watch?v=mpw-oIvjB70" TargetMode="External"/><Relationship Id="rId4" Type="http://schemas.openxmlformats.org/officeDocument/2006/relationships/image" Target="../media/image17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www.youtube.com/watch?v=zxoxL4Io_1M" TargetMode="External"/><Relationship Id="rId4" Type="http://schemas.openxmlformats.org/officeDocument/2006/relationships/image" Target="../media/image19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gif"/><Relationship Id="rId4" Type="http://schemas.openxmlformats.org/officeDocument/2006/relationships/hyperlink" Target="https://www.sciencedirect.com/science/article/pii/S2352664516300050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Relationship Id="rId4" Type="http://schemas.openxmlformats.org/officeDocument/2006/relationships/hyperlink" Target="https://www.researchgate.net/publication/327653903_Characteristic_patterns_of_inter-_and_intra-hemispheric_metabolic_connectivity_in_patients_with_stable_and_progressive_mild_cognitive_impairment_and_Alzheimer%27s_disease/figures?lo=1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 sz="4800"/>
              <a:t>(CB050) Introducción a la Ciencia de Datos</a:t>
            </a:r>
            <a:endParaRPr sz="48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700">
                <a:solidFill>
                  <a:schemeClr val="dk1"/>
                </a:solidFill>
              </a:rPr>
              <a:t>Marzo 2025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700">
                <a:solidFill>
                  <a:schemeClr val="dk1"/>
                </a:solidFill>
              </a:rPr>
              <a:t>Docentes: Marina Lagos, Agustín Diez y Federico Krell</a:t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e3f1c57373_1_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Organización de la materia</a:t>
            </a:r>
            <a:endParaRPr/>
          </a:p>
        </p:txBody>
      </p:sp>
      <p:sp>
        <p:nvSpPr>
          <p:cNvPr id="61" name="Google Shape;61;g2e3f1c57373_1_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3 horas semanales: Martes de 19 a 22 hs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Clases virtuales y clases presenciales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Examen parcial y examen final presenciales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2 trabajos prácticos en grupo</a:t>
            </a:r>
            <a:r>
              <a:rPr lang="es">
                <a:solidFill>
                  <a:srgbClr val="999999"/>
                </a:solidFill>
              </a:rPr>
              <a:t> de 3 personas (a confirmar)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Canal de comunicación: Slack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">
                <a:solidFill>
                  <a:schemeClr val="dk1"/>
                </a:solidFill>
              </a:rPr>
              <a:t>No</a:t>
            </a:r>
            <a:r>
              <a:rPr lang="es">
                <a:solidFill>
                  <a:schemeClr val="dk1"/>
                </a:solidFill>
              </a:rPr>
              <a:t> se aceptan excepciones de correlatividad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"/>
              <a:t>¿Qué es la ciencia de datos?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Definición dada por ChatGPT</a:t>
            </a:r>
            <a:endParaRPr/>
          </a:p>
        </p:txBody>
      </p:sp>
      <p:sp>
        <p:nvSpPr>
          <p:cNvPr id="72" name="Google Shape;7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La ciencia de datos es un </a:t>
            </a:r>
            <a:r>
              <a:rPr b="1" lang="es">
                <a:solidFill>
                  <a:schemeClr val="dk1"/>
                </a:solidFill>
              </a:rPr>
              <a:t>campo interdisciplinario</a:t>
            </a:r>
            <a:r>
              <a:rPr lang="es">
                <a:solidFill>
                  <a:schemeClr val="dk1"/>
                </a:solidFill>
              </a:rPr>
              <a:t> que se enfoca en </a:t>
            </a:r>
            <a:r>
              <a:rPr b="1" lang="es">
                <a:solidFill>
                  <a:schemeClr val="dk1"/>
                </a:solidFill>
              </a:rPr>
              <a:t>extraer conocimiento</a:t>
            </a:r>
            <a:r>
              <a:rPr lang="es">
                <a:solidFill>
                  <a:schemeClr val="dk1"/>
                </a:solidFill>
              </a:rPr>
              <a:t> y perspectivas útiles a partir de conjuntos de datos, utilizando una combinación de habilidades de </a:t>
            </a:r>
            <a:r>
              <a:rPr b="1" lang="es">
                <a:solidFill>
                  <a:schemeClr val="dk1"/>
                </a:solidFill>
              </a:rPr>
              <a:t>estadística, matemáticas, programación, análisis y conocimientos de dominio específico.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El proceso de ciencia de datos generalmente implica la </a:t>
            </a:r>
            <a:r>
              <a:rPr b="1" lang="es">
                <a:solidFill>
                  <a:schemeClr val="dk1"/>
                </a:solidFill>
              </a:rPr>
              <a:t>recopilación, limpieza, procesamiento, análisis y visualización de datos</a:t>
            </a:r>
            <a:r>
              <a:rPr lang="es">
                <a:solidFill>
                  <a:schemeClr val="dk1"/>
                </a:solidFill>
              </a:rPr>
              <a:t> para </a:t>
            </a:r>
            <a:r>
              <a:rPr b="1" lang="es">
                <a:solidFill>
                  <a:schemeClr val="dk1"/>
                </a:solidFill>
              </a:rPr>
              <a:t>descubrir patrones, tendencias o relaciones</a:t>
            </a:r>
            <a:r>
              <a:rPr lang="es">
                <a:solidFill>
                  <a:schemeClr val="dk1"/>
                </a:solidFill>
              </a:rPr>
              <a:t> que pueden ayudar a</a:t>
            </a:r>
            <a:r>
              <a:rPr b="1" lang="es">
                <a:solidFill>
                  <a:schemeClr val="dk1"/>
                </a:solidFill>
              </a:rPr>
              <a:t> tomar decisiones informadas </a:t>
            </a:r>
            <a:r>
              <a:rPr lang="es">
                <a:solidFill>
                  <a:schemeClr val="dk1"/>
                </a:solidFill>
              </a:rPr>
              <a:t>o </a:t>
            </a:r>
            <a:r>
              <a:rPr b="1" lang="es">
                <a:solidFill>
                  <a:schemeClr val="dk1"/>
                </a:solidFill>
              </a:rPr>
              <a:t>predecir resultados</a:t>
            </a:r>
            <a:r>
              <a:rPr lang="es">
                <a:solidFill>
                  <a:schemeClr val="dk1"/>
                </a:solidFill>
              </a:rPr>
              <a:t> futuros en diferentes áreas como negocios, investigación científica, salud, entre otros.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es">
                <a:solidFill>
                  <a:schemeClr val="dk1"/>
                </a:solidFill>
              </a:rPr>
              <a:t>Los científicos de datos utilizan una variedad de herramientas y técnicas, incluyendo algoritmos de aprendizaje automático, minería de datos, análisis predictivo y técnicas de visualización de datos para explorar y comprender los conjuntos de datos con los que trabajan. La ciencia de datos es un campo en constante evolución debido al crecimiento exponencial de los datos y las nuevas tecnologías que surgen para manejar y analizar esos datos de manera más eficiente.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2750" y="1464647"/>
            <a:ext cx="6138501" cy="22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Aplicación&#10;&#10;El contenido generado por IA puede ser incorrecto." id="82" name="Google Shape;8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71437"/>
            <a:ext cx="9144000" cy="360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a&#10;&#10;El contenido generado por IA puede ser incorrecto." id="87" name="Google Shape;8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2390" y="0"/>
            <a:ext cx="595921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1701" y="525475"/>
            <a:ext cx="4520601" cy="40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 txBox="1"/>
          <p:nvPr/>
        </p:nvSpPr>
        <p:spPr>
          <a:xfrm>
            <a:off x="6251650" y="3494575"/>
            <a:ext cx="2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+ comunicación</a:t>
            </a:r>
            <a:endParaRPr b="0" i="0" sz="18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"/>
              <a:t>¿Por qué ahora?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“Data Science”: Interés a lo largo del tiempo</a:t>
            </a:r>
            <a:endParaRPr/>
          </a:p>
        </p:txBody>
      </p:sp>
      <p:sp>
        <p:nvSpPr>
          <p:cNvPr id="104" name="Google Shape;104;p7"/>
          <p:cNvSpPr txBox="1"/>
          <p:nvPr>
            <p:ph idx="1" type="body"/>
          </p:nvPr>
        </p:nvSpPr>
        <p:spPr>
          <a:xfrm>
            <a:off x="311700" y="4125775"/>
            <a:ext cx="8520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53082"/>
              <a:buNone/>
            </a:pPr>
            <a:r>
              <a:rPr lang="es" sz="1400"/>
              <a:t>Fuente: Google Trends</a:t>
            </a:r>
            <a:endParaRPr sz="1400"/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73925"/>
            <a:ext cx="9143999" cy="199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¿Por qué ahora?</a:t>
            </a:r>
            <a:endParaRPr/>
          </a:p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Avance tecnológico. Aumento exponencial de: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Capacidad de procesamiento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Capacidad de almacenamiento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Velocidad de transmisión de datos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Datificación - Internet de la cosas (IoT)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Democratización de las herramientas de análisis de datos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Proceso de la ciencia de datos</a:t>
            </a:r>
            <a:endParaRPr/>
          </a:p>
        </p:txBody>
      </p:sp>
      <p:pic>
        <p:nvPicPr>
          <p:cNvPr id="117" name="Google Shape;1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463" y="865450"/>
            <a:ext cx="8259075" cy="341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Bibliografía</a:t>
            </a:r>
            <a:endParaRPr/>
          </a:p>
        </p:txBody>
      </p:sp>
      <p:sp>
        <p:nvSpPr>
          <p:cNvPr id="123" name="Google Shape;123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s" sz="1400">
                <a:solidFill>
                  <a:srgbClr val="222222"/>
                </a:solidFill>
                <a:highlight>
                  <a:srgbClr val="FFFFFF"/>
                </a:highlight>
              </a:rPr>
              <a:t>Igual, L., &amp; Seguí, S. (2017). </a:t>
            </a:r>
            <a:r>
              <a:rPr i="1" lang="es" sz="1400">
                <a:solidFill>
                  <a:srgbClr val="222222"/>
                </a:solidFill>
                <a:highlight>
                  <a:srgbClr val="FFFFFF"/>
                </a:highlight>
              </a:rPr>
              <a:t>Introduction to data science.</a:t>
            </a:r>
            <a:r>
              <a:rPr lang="es" sz="1400">
                <a:solidFill>
                  <a:srgbClr val="222222"/>
                </a:solidFill>
                <a:highlight>
                  <a:srgbClr val="FFFFFF"/>
                </a:highlight>
              </a:rPr>
              <a:t> Springer International Publishing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s" sz="1400">
                <a:solidFill>
                  <a:srgbClr val="222222"/>
                </a:solidFill>
                <a:highlight>
                  <a:srgbClr val="FFFFFF"/>
                </a:highlight>
              </a:rPr>
              <a:t>Skiena, S. S. (2017). The data science design manual. Springer.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s" sz="1400">
                <a:solidFill>
                  <a:srgbClr val="222222"/>
                </a:solidFill>
                <a:highlight>
                  <a:srgbClr val="FFFFFF"/>
                </a:highlight>
              </a:rPr>
              <a:t>Matsumuro, M., &amp; Miwa, K. (2019). Model for data analysis process and its relationship to the hypothesis-driven and data-driven research approaches. In </a:t>
            </a:r>
            <a:r>
              <a:rPr i="1" lang="es" sz="1400">
                <a:solidFill>
                  <a:srgbClr val="222222"/>
                </a:solidFill>
                <a:highlight>
                  <a:srgbClr val="FFFFFF"/>
                </a:highlight>
              </a:rPr>
              <a:t>Intelligent Tutoring Systems: 15th International Conference, ITS 2019, Kingston, Jamaica, June 3–7, 2019, Proceedings 15</a:t>
            </a:r>
            <a:r>
              <a:rPr lang="es" sz="1400">
                <a:solidFill>
                  <a:srgbClr val="222222"/>
                </a:solidFill>
                <a:highlight>
                  <a:srgbClr val="FFFFFF"/>
                </a:highlight>
              </a:rPr>
              <a:t> (pp. 123-132). Springer International Publishing.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/>
              <a:t>Algunos conceptos generales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Ciencia de datos</a:t>
            </a:r>
            <a:r>
              <a:rPr lang="es">
                <a:solidFill>
                  <a:srgbClr val="B7B7B7"/>
                </a:solidFill>
              </a:rPr>
              <a:t> - Data science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34" name="Google Shape;134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"/>
              <a:t>La ciencia de datos es un campo interdisciplinario que se enfoca en </a:t>
            </a:r>
            <a:r>
              <a:rPr b="1" lang="es"/>
              <a:t>extraer conocimiento a partir de conjuntos de datos</a:t>
            </a:r>
            <a:r>
              <a:rPr lang="es"/>
              <a:t>, utilizando una combinación de herramientas que incluyen estadística, matemática, programación, análisis y conocimientos de dominio específico. El proceso de ciencia de datos generalmente implica la recopilación, limpieza, procesamiento, análisis y visualización de datos para descubrir patrones, tendencias o relaciones que pueden ayudar a tomar decisiones informadas o predecir resultados futuros en diferentes áreas como negocios, investigación científica, salud, entre otros.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Inteligencia artificial (IA) </a:t>
            </a:r>
            <a:r>
              <a:rPr lang="es">
                <a:solidFill>
                  <a:srgbClr val="B7B7B7"/>
                </a:solidFill>
              </a:rPr>
              <a:t>- Artificial intelligence (AI)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40" name="Google Shape;140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Es una rama dentro de las ciencias de la computación que se dedica a la creación de sistemas que pueden </a:t>
            </a:r>
            <a:r>
              <a:rPr b="1" lang="es"/>
              <a:t>imitar la inteligencia humana</a:t>
            </a:r>
            <a:r>
              <a:rPr lang="es"/>
              <a:t>, permitiéndoles realizar actividades que normalmente necesitan </a:t>
            </a:r>
            <a:r>
              <a:rPr b="1" lang="es"/>
              <a:t>procesos cognitivos</a:t>
            </a:r>
            <a:r>
              <a:rPr lang="es"/>
              <a:t> humanos. Estos sistemas están diseñados para replicar comportamientos humanos como </a:t>
            </a:r>
            <a:r>
              <a:rPr b="1" lang="es"/>
              <a:t>aprender, resolver problemas, tomar decisiones y comprender el lenguaje natural.</a:t>
            </a:r>
            <a:r>
              <a:rPr lang="es"/>
              <a:t>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"/>
              <a:t>La IA tiene como objetivo desarrollar dispositivos capaces de detectar su entorno, captar el contexto y modificar su comportamiento de forma independiente para cumplir objetivos particulares.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Aprendizaje automático (AA) </a:t>
            </a:r>
            <a:r>
              <a:rPr lang="es">
                <a:solidFill>
                  <a:srgbClr val="B7B7B7"/>
                </a:solidFill>
              </a:rPr>
              <a:t>- Machine Learning (ML)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46" name="Google Shape;146;p14"/>
          <p:cNvSpPr txBox="1"/>
          <p:nvPr>
            <p:ph idx="1" type="body"/>
          </p:nvPr>
        </p:nvSpPr>
        <p:spPr>
          <a:xfrm>
            <a:off x="311700" y="1152475"/>
            <a:ext cx="5902800" cy="15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●"/>
            </a:pPr>
            <a:r>
              <a:rPr lang="es"/>
              <a:t>Samuel (1959):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rPr lang="es"/>
              <a:t>Campo de estudio que le da a las computadoras la habilidad de </a:t>
            </a:r>
            <a:r>
              <a:rPr b="1" lang="es"/>
              <a:t>aprender sin ser programadas de manera explícita</a:t>
            </a:r>
            <a:r>
              <a:rPr lang="es"/>
              <a:t>. </a:t>
            </a:r>
            <a:endParaRPr/>
          </a:p>
        </p:txBody>
      </p:sp>
      <p:grpSp>
        <p:nvGrpSpPr>
          <p:cNvPr id="147" name="Google Shape;147;p14"/>
          <p:cNvGrpSpPr/>
          <p:nvPr/>
        </p:nvGrpSpPr>
        <p:grpSpPr>
          <a:xfrm>
            <a:off x="6363975" y="1597029"/>
            <a:ext cx="2468329" cy="2527126"/>
            <a:chOff x="2961500" y="961400"/>
            <a:chExt cx="3221100" cy="3220500"/>
          </a:xfrm>
        </p:grpSpPr>
        <p:sp>
          <p:nvSpPr>
            <p:cNvPr id="148" name="Google Shape;148;p14"/>
            <p:cNvSpPr/>
            <p:nvPr/>
          </p:nvSpPr>
          <p:spPr>
            <a:xfrm>
              <a:off x="2961500" y="961400"/>
              <a:ext cx="3221100" cy="3220500"/>
            </a:xfrm>
            <a:prstGeom prst="ellipse">
              <a:avLst/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4"/>
            <p:cNvSpPr txBox="1"/>
            <p:nvPr/>
          </p:nvSpPr>
          <p:spPr>
            <a:xfrm>
              <a:off x="3782900" y="1200950"/>
              <a:ext cx="15780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Artificial intelligence</a:t>
              </a:r>
              <a:endParaRPr b="0" i="0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0" name="Google Shape;150;p14"/>
          <p:cNvGrpSpPr/>
          <p:nvPr/>
        </p:nvGrpSpPr>
        <p:grpSpPr>
          <a:xfrm>
            <a:off x="6701289" y="2287638"/>
            <a:ext cx="1793602" cy="1836669"/>
            <a:chOff x="3401686" y="1841492"/>
            <a:chExt cx="2340600" cy="2340600"/>
          </a:xfrm>
        </p:grpSpPr>
        <p:sp>
          <p:nvSpPr>
            <p:cNvPr id="151" name="Google Shape;151;p14"/>
            <p:cNvSpPr/>
            <p:nvPr/>
          </p:nvSpPr>
          <p:spPr>
            <a:xfrm>
              <a:off x="3401686" y="1841492"/>
              <a:ext cx="2340600" cy="2340600"/>
            </a:xfrm>
            <a:prstGeom prst="ellipse">
              <a:avLst/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4"/>
            <p:cNvSpPr txBox="1"/>
            <p:nvPr/>
          </p:nvSpPr>
          <p:spPr>
            <a:xfrm>
              <a:off x="3833274" y="2126800"/>
              <a:ext cx="14772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Machine learning</a:t>
              </a:r>
              <a:endParaRPr b="0" i="0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3" name="Google Shape;153;p14"/>
          <p:cNvGrpSpPr/>
          <p:nvPr/>
        </p:nvGrpSpPr>
        <p:grpSpPr>
          <a:xfrm>
            <a:off x="7032281" y="2965165"/>
            <a:ext cx="1131748" cy="1159159"/>
            <a:chOff x="3833620" y="2704915"/>
            <a:chExt cx="1476900" cy="1477200"/>
          </a:xfrm>
        </p:grpSpPr>
        <p:sp>
          <p:nvSpPr>
            <p:cNvPr id="154" name="Google Shape;154;p14"/>
            <p:cNvSpPr/>
            <p:nvPr/>
          </p:nvSpPr>
          <p:spPr>
            <a:xfrm>
              <a:off x="3833620" y="2704915"/>
              <a:ext cx="1476900" cy="14772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4"/>
            <p:cNvSpPr txBox="1"/>
            <p:nvPr/>
          </p:nvSpPr>
          <p:spPr>
            <a:xfrm>
              <a:off x="3957047" y="3143188"/>
              <a:ext cx="1230000" cy="6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Deep learning</a:t>
              </a:r>
              <a:endParaRPr b="0" i="0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6" name="Google Shape;156;p14"/>
          <p:cNvSpPr txBox="1"/>
          <p:nvPr/>
        </p:nvSpPr>
        <p:spPr>
          <a:xfrm>
            <a:off x="311700" y="2745775"/>
            <a:ext cx="6052200" cy="18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Mitchell (1997):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 dice que un programa computacional aprende de la</a:t>
            </a: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experiencia E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con respecto a una </a:t>
            </a: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tarea T 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 una medida de </a:t>
            </a: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performance P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si su performance en la tarea T, medida por P, mejora con la experiencia 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01945"/>
            <a:ext cx="9144000" cy="4139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Ejemplo 1: Clasificación de correo electrónico (Spam/No spam)</a:t>
            </a:r>
            <a:endParaRPr/>
          </a:p>
        </p:txBody>
      </p:sp>
      <p:sp>
        <p:nvSpPr>
          <p:cNvPr id="167" name="Google Shape;167;p15"/>
          <p:cNvSpPr txBox="1"/>
          <p:nvPr>
            <p:ph idx="1" type="body"/>
          </p:nvPr>
        </p:nvSpPr>
        <p:spPr>
          <a:xfrm>
            <a:off x="311700" y="3735287"/>
            <a:ext cx="4791928" cy="963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P:</a:t>
            </a:r>
            <a:r>
              <a:rPr lang="es"/>
              <a:t> Proporción de correos electrónicos correctamente clasificados.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311700" y="1882063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T: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Clasificar correos electrónicos como spam o no spam.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311700" y="2409248"/>
            <a:ext cx="4862812" cy="12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E: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El sistema se entrena con un conjunto de correos electrónicos identificados previamente como spam o no spam.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a&#10;&#10;El contenido generado por IA puede ser incorrecto." id="170" name="Google Shape;1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8554" y="1514253"/>
            <a:ext cx="4465560" cy="3629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Ejemplo 2: Reconocimiento de voz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 txBox="1"/>
          <p:nvPr>
            <p:ph idx="1" type="body"/>
          </p:nvPr>
        </p:nvSpPr>
        <p:spPr>
          <a:xfrm>
            <a:off x="311700" y="2869225"/>
            <a:ext cx="8520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"/>
              <a:t>P:</a:t>
            </a:r>
            <a:r>
              <a:rPr lang="es"/>
              <a:t> Porcentaje de palabras correctamente transcritas.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311700" y="163672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T: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Transcribir palabras habladas a texto.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311700" y="2181600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E: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El sistema se entrena con grabaciones de voz y las transcripciones correspondientes.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Ejemplo 2: Reconocimiento de voz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descr="Interfaz de usuario gráfica, Diagrama&#10;&#10;El contenido generado por IA puede ser incorrecto." id="184" name="Google Shape;18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4808" y="445025"/>
            <a:ext cx="5049307" cy="4878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Ejemplo 3: Recomendación de películas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 txBox="1"/>
          <p:nvPr>
            <p:ph idx="1" type="body"/>
          </p:nvPr>
        </p:nvSpPr>
        <p:spPr>
          <a:xfrm>
            <a:off x="311700" y="3038100"/>
            <a:ext cx="8520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"/>
              <a:t>P: </a:t>
            </a:r>
            <a:r>
              <a:rPr lang="es"/>
              <a:t>Métricas como el acierto en las recomendaciones o la satisfacción del usuario.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311700" y="16437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T: 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Recomendar películas a los usuarios.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311700" y="2257800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E: 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 sistema se entrena con los historiales de visualización de películas y las calificaciones dadas por los usuarios.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Ejemplo 3: Recomendación de películas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98" name="Google Shape;19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5302" y="1017725"/>
            <a:ext cx="6673396" cy="4074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Ejemplo 4: Diagnóstico médico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 txBox="1"/>
          <p:nvPr>
            <p:ph idx="1" type="body"/>
          </p:nvPr>
        </p:nvSpPr>
        <p:spPr>
          <a:xfrm>
            <a:off x="311700" y="3103550"/>
            <a:ext cx="85206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"/>
              <a:t>P:</a:t>
            </a:r>
            <a:r>
              <a:rPr lang="es"/>
              <a:t> Tasa de aciertos en el diagnóstico o métricas como la sensibilidad y especificidad.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311700" y="1390550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T: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Diagnosticar enfermedades a partir de síntomas y resultados de pruebas médicas.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311700" y="2247038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E:</a:t>
            </a: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El sistema se entrena con historiales médicos de pacientes, incluyendo síntomas, pruebas y diagnósticos confirmados.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AA es útil para:</a:t>
            </a:r>
            <a:endParaRPr/>
          </a:p>
        </p:txBody>
      </p:sp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Problemas cuyas soluciones existentes requieren muchos ajustes o largas listas de reglas.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Problemas complejos para los cuales el uso de un enfoque tradicional no ofrece una buena solución. 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Entornos cambiantes (un sistema de machine learning puede reentrenarse fácilmente con datos nuevos y mantenerse siempre actualizado). 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Obtener un entendimiento de problemas complejos y grandes cantidades de datos.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a&#10;&#10;El contenido generado por IA puede ser incorrecto." id="217" name="Google Shape;21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869"/>
            <a:ext cx="9144000" cy="5015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a, Texto&#10;&#10;El contenido generado por IA puede ser incorrecto." id="222" name="Google Shape;2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4843"/>
            <a:ext cx="9144000" cy="4873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Bibliografía</a:t>
            </a:r>
            <a:endParaRPr/>
          </a:p>
        </p:txBody>
      </p:sp>
      <p:sp>
        <p:nvSpPr>
          <p:cNvPr id="228" name="Google Shape;22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-"/>
            </a:pPr>
            <a:r>
              <a:rPr lang="es" sz="1600">
                <a:solidFill>
                  <a:srgbClr val="222222"/>
                </a:solidFill>
                <a:highlight>
                  <a:srgbClr val="FFFFFF"/>
                </a:highlight>
              </a:rPr>
              <a:t>Géron, A. (2020). Aprende machine learning con scikit-learn, keras y tensorflow.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-"/>
            </a:pPr>
            <a:r>
              <a:rPr lang="es" sz="1600">
                <a:solidFill>
                  <a:srgbClr val="222222"/>
                </a:solidFill>
                <a:highlight>
                  <a:srgbClr val="FFFFFF"/>
                </a:highlight>
              </a:rPr>
              <a:t>https://www.ibm.com/blog/data-science-vs-machine-learning-whats-the-difference/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/>
              <a:t>Ejemplos de aplicación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009" y="0"/>
            <a:ext cx="237083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Modelos predictivos</a:t>
            </a:r>
            <a:endParaRPr/>
          </a:p>
        </p:txBody>
      </p:sp>
      <p:sp>
        <p:nvSpPr>
          <p:cNvPr id="240" name="Google Shape;240;p23"/>
          <p:cNvSpPr txBox="1"/>
          <p:nvPr>
            <p:ph idx="1" type="body"/>
          </p:nvPr>
        </p:nvSpPr>
        <p:spPr>
          <a:xfrm>
            <a:off x="302245" y="4495542"/>
            <a:ext cx="4516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" sz="1100" u="sng">
                <a:solidFill>
                  <a:schemeClr val="hlink"/>
                </a:solidFill>
                <a:hlinkClick r:id="rId4"/>
              </a:rPr>
              <a:t>Can AI help us predict extreme weather? (youtube.com)</a:t>
            </a:r>
            <a:endParaRPr/>
          </a:p>
        </p:txBody>
      </p:sp>
      <p:pic>
        <p:nvPicPr>
          <p:cNvPr id="241" name="Google Shape;24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013" y="1986748"/>
            <a:ext cx="4417225" cy="250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302250" y="1017725"/>
            <a:ext cx="4857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Predicción de tiempo de viaje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Predicción de fraude financiero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Predicción de eventos meteorológicos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Clasificación de imágenes</a:t>
            </a:r>
            <a:endParaRPr/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330263"/>
            <a:ext cx="8281999" cy="24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164850" y="4125775"/>
            <a:ext cx="866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Recent advancement in cancer detection using machine learning: Systematic survey of decades, comparisons and challenges - ScienceDirect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5"/>
          <p:cNvPicPr preferRelativeResize="0"/>
          <p:nvPr/>
        </p:nvPicPr>
        <p:blipFill rotWithShape="1">
          <a:blip r:embed="rId3">
            <a:alphaModFix/>
          </a:blip>
          <a:srcRect b="19264" l="14628" r="16334" t="15514"/>
          <a:stretch/>
        </p:blipFill>
        <p:spPr>
          <a:xfrm>
            <a:off x="6526750" y="1399400"/>
            <a:ext cx="1625651" cy="333194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Clasificación de imágenes</a:t>
            </a:r>
            <a:endParaRPr/>
          </a:p>
        </p:txBody>
      </p:sp>
      <p:pic>
        <p:nvPicPr>
          <p:cNvPr id="256" name="Google Shape;25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600" y="1399400"/>
            <a:ext cx="5284973" cy="333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6"/>
          <p:cNvPicPr preferRelativeResize="0"/>
          <p:nvPr/>
        </p:nvPicPr>
        <p:blipFill rotWithShape="1">
          <a:blip r:embed="rId3">
            <a:alphaModFix/>
          </a:blip>
          <a:srcRect b="14323" l="0" r="0" t="0"/>
          <a:stretch/>
        </p:blipFill>
        <p:spPr>
          <a:xfrm>
            <a:off x="5062525" y="2788075"/>
            <a:ext cx="3049975" cy="195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6"/>
          <p:cNvPicPr preferRelativeResize="0"/>
          <p:nvPr/>
        </p:nvPicPr>
        <p:blipFill rotWithShape="1">
          <a:blip r:embed="rId4">
            <a:alphaModFix/>
          </a:blip>
          <a:srcRect b="0" l="20341" r="21338" t="0"/>
          <a:stretch/>
        </p:blipFill>
        <p:spPr>
          <a:xfrm>
            <a:off x="830825" y="1513675"/>
            <a:ext cx="3146925" cy="303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9374" y="1054175"/>
            <a:ext cx="3496300" cy="148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Procesamiento de lenguaje natural (NLP) y más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100" y="1209300"/>
            <a:ext cx="5718874" cy="303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Sistemas de recomendación</a:t>
            </a:r>
            <a:endParaRPr/>
          </a:p>
        </p:txBody>
      </p:sp>
      <p:pic>
        <p:nvPicPr>
          <p:cNvPr id="271" name="Google Shape;271;p27"/>
          <p:cNvPicPr preferRelativeResize="0"/>
          <p:nvPr/>
        </p:nvPicPr>
        <p:blipFill rotWithShape="1">
          <a:blip r:embed="rId4">
            <a:alphaModFix/>
          </a:blip>
          <a:srcRect b="0" l="51620" r="0" t="0"/>
          <a:stretch/>
        </p:blipFill>
        <p:spPr>
          <a:xfrm>
            <a:off x="6775575" y="1148288"/>
            <a:ext cx="1616074" cy="315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 highly complex driving scenarios, it’s helpful for the autonomous vehicle’s perception system to provide a more detailed understanding of its surroundings. With our panoptic segmentation DNN approach, we can obtain such fine-grained results by segmenting image content with pixel-level accuracy.&#10;Read more: https://nvda.ws/2PfpfQ4&#10;Watch the full series here: https://nvda.ws/2oaBqT9&#10;Learn more about DRIVE Labs: https://nvda.ws/36r5c6t&#10;Follow us on social&#10;Twitter: https://twitter.com/NVIDIADRIVE&#10;LinkedIn: https://www.linkedin.com/showcase/nvidia-drive/" id="276" name="Google Shape;276;p28" title="How AI Helps Autonomous Vehicles See Outside the Box - NVIDIA DRIVE Labs Ep. 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588" y="878088"/>
            <a:ext cx="7048800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/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Visión artificial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arn more: https://www.chooch.com/&#10;AI training can produce AI models that not only detect smoke and fire, but also send alerts. Homes, kitchens, public spaces, buildings, anywhere - faster more, accurate AI detection and alerts can save property and lives.&#10;&#10;Chooch has made it easier than ever to deploy AI Vision quickly and accurately for countless applications. It is redefining the way vision technology is being deployed across every industry.&#10;&#10;Contact us at: https://www.chooch.com/contact-us/&#10;FOLLOW US ON LINKEDIN:&#10;https://www.linkedin.com/company/chooch&#10;&#10;#AIVision #EmergingTechnologies #VisionAI #ArtificialIntelligence #MachineLearning #DeepLearning #EdgeComputing #CloudAI #EdgeAI #AI #Chooch" id="282" name="Google Shape;282;p29" title="Computer Vision: Smoke and Fire Detection and Alerts with AI | Chooch ReadyNow Models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600" y="878100"/>
            <a:ext cx="7048800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 txBox="1"/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"/>
              <a:t>Visión artificial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crosoft is partnering with DJI to build a new drone SDK for Windows  which allows it to directly connect DJI’s drones with Windows computers.&#10;&#10;The SDK will also make possible to integrate third-party hardware like multispectral sensors or custom actuators with DJI’s drones, expanding what customers will be able to do with their drones." id="288" name="Google Shape;288;p30" title="Microsoft partners with DJI on a new Windows 10 drone SDK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588" y="878100"/>
            <a:ext cx="7048800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0"/>
          <p:cNvSpPr txBox="1"/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Visión artificial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6988" y="878112"/>
            <a:ext cx="6750025" cy="380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1"/>
          <p:cNvSpPr txBox="1"/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Planificación de trayectoria</a:t>
            </a:r>
            <a:endParaRPr/>
          </a:p>
        </p:txBody>
      </p:sp>
      <p:sp>
        <p:nvSpPr>
          <p:cNvPr id="296" name="Google Shape;296;p31"/>
          <p:cNvSpPr txBox="1"/>
          <p:nvPr/>
        </p:nvSpPr>
        <p:spPr>
          <a:xfrm>
            <a:off x="1382100" y="4789500"/>
            <a:ext cx="637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The path planning of cleaner robot for coverage region using Genetic Algorithms - ScienceDirect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Análisis de grafos (redes)</a:t>
            </a:r>
            <a:endParaRPr/>
          </a:p>
        </p:txBody>
      </p:sp>
      <p:pic>
        <p:nvPicPr>
          <p:cNvPr id="302" name="Google Shape;30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8150" y="1017713"/>
            <a:ext cx="4537200" cy="324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2"/>
          <p:cNvSpPr txBox="1"/>
          <p:nvPr/>
        </p:nvSpPr>
        <p:spPr>
          <a:xfrm>
            <a:off x="2297050" y="4341375"/>
            <a:ext cx="464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(PDF) Characteristic patterns of inter- and intra-hemispheric metabolic connectivity in patients with stable and progressive mild cognitive impairment and Alzheimer’s disease (researchgate.net)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/>
              <a:t>El trabajo de ciencia de datos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425" y="0"/>
            <a:ext cx="792956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a&#10;&#10;El contenido generado por IA puede ser incorrecto." id="318" name="Google Shape;31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043" y="0"/>
            <a:ext cx="566991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a&#10;&#10;El contenido generado por IA puede ser incorrecto." id="323" name="Google Shape;32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71637"/>
            <a:ext cx="9144000" cy="328981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55"/>
          <p:cNvSpPr txBox="1"/>
          <p:nvPr/>
        </p:nvSpPr>
        <p:spPr>
          <a:xfrm>
            <a:off x="294167" y="335209"/>
            <a:ext cx="55466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en contexto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KRELL Federico        TECHINT</dc:creator>
</cp:coreProperties>
</file>