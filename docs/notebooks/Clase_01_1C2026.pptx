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y="5143500" cx="9144000"/>
  <p:notesSz cx="6858000" cy="9144000"/>
  <p:embeddedFontLst>
    <p:embeddedFont>
      <p:font typeface="Roboto Medium"/>
      <p:regular r:id="rId48"/>
      <p:bold r:id="rId49"/>
      <p:italic r:id="rId50"/>
      <p:boldItalic r:id="rId51"/>
    </p:embeddedFont>
    <p:embeddedFont>
      <p:font typeface="Roboto"/>
      <p:regular r:id="rId52"/>
      <p:bold r:id="rId53"/>
      <p:italic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56" roundtripDataSignature="AMtx7miHc/APA96knsDveQCnFeNu2Q5B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RobotoMedium-regular.fntdata"/><Relationship Id="rId47" Type="http://schemas.openxmlformats.org/officeDocument/2006/relationships/slide" Target="slides/slide41.xml"/><Relationship Id="rId49" Type="http://schemas.openxmlformats.org/officeDocument/2006/relationships/font" Target="fonts/RobotoMedium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RobotoMedium-boldItalic.fntdata"/><Relationship Id="rId50" Type="http://schemas.openxmlformats.org/officeDocument/2006/relationships/font" Target="fonts/RobotoMedium-italic.fntdata"/><Relationship Id="rId53" Type="http://schemas.openxmlformats.org/officeDocument/2006/relationships/font" Target="fonts/Roboto-bold.fntdata"/><Relationship Id="rId52" Type="http://schemas.openxmlformats.org/officeDocument/2006/relationships/font" Target="fonts/Roboto-regular.fntdata"/><Relationship Id="rId11" Type="http://schemas.openxmlformats.org/officeDocument/2006/relationships/slide" Target="slides/slide5.xml"/><Relationship Id="rId55" Type="http://schemas.openxmlformats.org/officeDocument/2006/relationships/font" Target="fonts/Roboto-boldItalic.fntdata"/><Relationship Id="rId10" Type="http://schemas.openxmlformats.org/officeDocument/2006/relationships/slide" Target="slides/slide4.xml"/><Relationship Id="rId54" Type="http://schemas.openxmlformats.org/officeDocument/2006/relationships/font" Target="fonts/Roboto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56" Type="http://customschemas.google.com/relationships/presentationmetadata" Target="meta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e3f1c57373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g2e3f1c57373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765475c4f0_1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5" name="Google Shape;335;g3765475c4f0_1_2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765475c4f0_1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1" name="Google Shape;341;g3765475c4f0_1_2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765475c4f0_1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5" name="Google Shape;355;g3765475c4f0_1_2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765475c4f0_1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6" name="Google Shape;386;g3765475c4f0_1_3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765475c4f0_1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9" name="Google Shape;429;g3765475c4f0_1_3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765475c4f0_1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3" name="Google Shape;453;g3765475c4f0_1_3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65475c4f0_1_4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3" name="Google Shape;503;g3765475c4f0_1_4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765475c4f0_1_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0" name="Google Shape;510;g3765475c4f0_1_4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765475c4f0_1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8" name="Google Shape;518;g3765475c4f0_1_4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765475c4f0_1_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3" name="Google Shape;533;g3765475c4f0_1_4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3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3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3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4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4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4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4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765475c4f0_1_479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8" name="Google Shape;58;g3765475c4f0_1_479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9" name="Google Shape;59;g3765475c4f0_1_479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765475c4f0_1_483"/>
          <p:cNvSpPr txBox="1"/>
          <p:nvPr>
            <p:ph type="ctrTitle"/>
          </p:nvPr>
        </p:nvSpPr>
        <p:spPr>
          <a:xfrm>
            <a:off x="342900" y="1065213"/>
            <a:ext cx="3886200" cy="7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2" name="Google Shape;62;g3765475c4f0_1_483"/>
          <p:cNvSpPr txBox="1"/>
          <p:nvPr>
            <p:ph idx="1" type="subTitle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g3765475c4f0_1_483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4" name="Google Shape;64;g3765475c4f0_1_483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5" name="Google Shape;65;g3765475c4f0_1_483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65475c4f0_1_489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8" name="Google Shape;68;g3765475c4f0_1_489"/>
          <p:cNvSpPr txBox="1"/>
          <p:nvPr>
            <p:ph idx="1" type="body"/>
          </p:nvPr>
        </p:nvSpPr>
        <p:spPr>
          <a:xfrm>
            <a:off x="228600" y="800100"/>
            <a:ext cx="41148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69" name="Google Shape;69;g3765475c4f0_1_489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0" name="Google Shape;70;g3765475c4f0_1_489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1" name="Google Shape;71;g3765475c4f0_1_489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765475c4f0_1_495"/>
          <p:cNvSpPr txBox="1"/>
          <p:nvPr>
            <p:ph type="title"/>
          </p:nvPr>
        </p:nvSpPr>
        <p:spPr>
          <a:xfrm>
            <a:off x="361156" y="2203450"/>
            <a:ext cx="38862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4" name="Google Shape;74;g3765475c4f0_1_495"/>
          <p:cNvSpPr txBox="1"/>
          <p:nvPr>
            <p:ph idx="1" type="body"/>
          </p:nvPr>
        </p:nvSpPr>
        <p:spPr>
          <a:xfrm>
            <a:off x="361156" y="1453357"/>
            <a:ext cx="3886200" cy="7503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g3765475c4f0_1_495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6" name="Google Shape;76;g3765475c4f0_1_495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7" name="Google Shape;77;g3765475c4f0_1_495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765475c4f0_1_501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0" name="Google Shape;80;g3765475c4f0_1_501"/>
          <p:cNvSpPr txBox="1"/>
          <p:nvPr>
            <p:ph idx="1" type="body"/>
          </p:nvPr>
        </p:nvSpPr>
        <p:spPr>
          <a:xfrm>
            <a:off x="228600" y="800100"/>
            <a:ext cx="20193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1" name="Google Shape;81;g3765475c4f0_1_501"/>
          <p:cNvSpPr txBox="1"/>
          <p:nvPr>
            <p:ph idx="2" type="body"/>
          </p:nvPr>
        </p:nvSpPr>
        <p:spPr>
          <a:xfrm>
            <a:off x="2324100" y="800100"/>
            <a:ext cx="20193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2" name="Google Shape;82;g3765475c4f0_1_501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3" name="Google Shape;83;g3765475c4f0_1_501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4" name="Google Shape;84;g3765475c4f0_1_501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765475c4f0_1_508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7" name="Google Shape;87;g3765475c4f0_1_508"/>
          <p:cNvSpPr txBox="1"/>
          <p:nvPr>
            <p:ph idx="1" type="body"/>
          </p:nvPr>
        </p:nvSpPr>
        <p:spPr>
          <a:xfrm>
            <a:off x="228600" y="767556"/>
            <a:ext cx="2020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88" name="Google Shape;88;g3765475c4f0_1_508"/>
          <p:cNvSpPr txBox="1"/>
          <p:nvPr>
            <p:ph idx="2" type="body"/>
          </p:nvPr>
        </p:nvSpPr>
        <p:spPr>
          <a:xfrm>
            <a:off x="228600" y="1087438"/>
            <a:ext cx="2020200" cy="19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89" name="Google Shape;89;g3765475c4f0_1_508"/>
          <p:cNvSpPr txBox="1"/>
          <p:nvPr>
            <p:ph idx="3" type="body"/>
          </p:nvPr>
        </p:nvSpPr>
        <p:spPr>
          <a:xfrm>
            <a:off x="2322513" y="767556"/>
            <a:ext cx="2021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90" name="Google Shape;90;g3765475c4f0_1_508"/>
          <p:cNvSpPr txBox="1"/>
          <p:nvPr>
            <p:ph idx="4" type="body"/>
          </p:nvPr>
        </p:nvSpPr>
        <p:spPr>
          <a:xfrm>
            <a:off x="2322513" y="1087438"/>
            <a:ext cx="2021100" cy="19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91" name="Google Shape;91;g3765475c4f0_1_508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2" name="Google Shape;92;g3765475c4f0_1_508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3" name="Google Shape;93;g3765475c4f0_1_508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765475c4f0_1_517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6" name="Google Shape;96;g3765475c4f0_1_517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7" name="Google Shape;97;g3765475c4f0_1_517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8" name="Google Shape;98;g3765475c4f0_1_517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765475c4f0_1_522"/>
          <p:cNvSpPr txBox="1"/>
          <p:nvPr>
            <p:ph type="title"/>
          </p:nvPr>
        </p:nvSpPr>
        <p:spPr>
          <a:xfrm>
            <a:off x="228600" y="136525"/>
            <a:ext cx="15042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1" name="Google Shape;101;g3765475c4f0_1_522"/>
          <p:cNvSpPr txBox="1"/>
          <p:nvPr>
            <p:ph idx="1" type="body"/>
          </p:nvPr>
        </p:nvSpPr>
        <p:spPr>
          <a:xfrm>
            <a:off x="1787525" y="136525"/>
            <a:ext cx="2556000" cy="29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21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102" name="Google Shape;102;g3765475c4f0_1_522"/>
          <p:cNvSpPr txBox="1"/>
          <p:nvPr>
            <p:ph idx="2" type="body"/>
          </p:nvPr>
        </p:nvSpPr>
        <p:spPr>
          <a:xfrm>
            <a:off x="228600" y="717550"/>
            <a:ext cx="1504200" cy="23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03" name="Google Shape;103;g3765475c4f0_1_522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4" name="Google Shape;104;g3765475c4f0_1_522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5" name="Google Shape;105;g3765475c4f0_1_522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765475c4f0_1_529"/>
          <p:cNvSpPr txBox="1"/>
          <p:nvPr>
            <p:ph type="title"/>
          </p:nvPr>
        </p:nvSpPr>
        <p:spPr>
          <a:xfrm>
            <a:off x="896144" y="2400300"/>
            <a:ext cx="27432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8" name="Google Shape;108;g3765475c4f0_1_529"/>
          <p:cNvSpPr/>
          <p:nvPr>
            <p:ph idx="2" type="pic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g3765475c4f0_1_529"/>
          <p:cNvSpPr txBox="1"/>
          <p:nvPr>
            <p:ph idx="1" type="body"/>
          </p:nvPr>
        </p:nvSpPr>
        <p:spPr>
          <a:xfrm>
            <a:off x="896144" y="2683669"/>
            <a:ext cx="27432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10" name="Google Shape;110;g3765475c4f0_1_529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1" name="Google Shape;111;g3765475c4f0_1_529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2" name="Google Shape;112;g3765475c4f0_1_529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765475c4f0_1_536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5" name="Google Shape;115;g3765475c4f0_1_536"/>
          <p:cNvSpPr txBox="1"/>
          <p:nvPr>
            <p:ph idx="1" type="body"/>
          </p:nvPr>
        </p:nvSpPr>
        <p:spPr>
          <a:xfrm rot="5400000">
            <a:off x="1154400" y="-125700"/>
            <a:ext cx="2263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16" name="Google Shape;116;g3765475c4f0_1_536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7" name="Google Shape;117;g3765475c4f0_1_536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8" name="Google Shape;118;g3765475c4f0_1_536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765475c4f0_1_542"/>
          <p:cNvSpPr txBox="1"/>
          <p:nvPr>
            <p:ph type="title"/>
          </p:nvPr>
        </p:nvSpPr>
        <p:spPr>
          <a:xfrm rot="5400000">
            <a:off x="2366100" y="1085919"/>
            <a:ext cx="29259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1" name="Google Shape;121;g3765475c4f0_1_542"/>
          <p:cNvSpPr txBox="1"/>
          <p:nvPr>
            <p:ph idx="1" type="body"/>
          </p:nvPr>
        </p:nvSpPr>
        <p:spPr>
          <a:xfrm rot="5400000">
            <a:off x="270600" y="95319"/>
            <a:ext cx="2925900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22" name="Google Shape;122;g3765475c4f0_1_542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3" name="Google Shape;123;g3765475c4f0_1_542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4" name="Google Shape;124;g3765475c4f0_1_542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65475c4f0_1_47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g3765475c4f0_1_473"/>
          <p:cNvSpPr txBox="1"/>
          <p:nvPr>
            <p:ph idx="1" type="body"/>
          </p:nvPr>
        </p:nvSpPr>
        <p:spPr>
          <a:xfrm>
            <a:off x="228600" y="800100"/>
            <a:ext cx="41148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g3765475c4f0_1_473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g3765475c4f0_1_473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g3765475c4f0_1_473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jpg"/><Relationship Id="rId4" Type="http://schemas.openxmlformats.org/officeDocument/2006/relationships/hyperlink" Target="https://www.youtube.com/watch?v=hU4viZzTaRc" TargetMode="External"/><Relationship Id="rId5" Type="http://schemas.openxmlformats.org/officeDocument/2006/relationships/image" Target="../media/image29.gif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0.png"/><Relationship Id="rId4" Type="http://schemas.openxmlformats.org/officeDocument/2006/relationships/hyperlink" Target="https://www.sciencedirect.com/science/article/pii/S1876034120305633#fig0005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4.png"/><Relationship Id="rId4" Type="http://schemas.openxmlformats.org/officeDocument/2006/relationships/image" Target="../media/image3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://www.youtube.com/watch?v=zxoxL4Io_1M" TargetMode="External"/><Relationship Id="rId4" Type="http://schemas.openxmlformats.org/officeDocument/2006/relationships/image" Target="../media/image9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.png"/><Relationship Id="rId4" Type="http://schemas.openxmlformats.org/officeDocument/2006/relationships/hyperlink" Target="https://www.researchgate.net/publication/327653903_Characteristic_patterns_of_inter-_and_intra-hemispheric_metabolic_connectivity_in_patients_with_stable_and_progressive_mild_cognitive_impairment_and_Alzheimer%27s_disease/figures?lo=1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2.png"/><Relationship Id="rId4" Type="http://schemas.openxmlformats.org/officeDocument/2006/relationships/image" Target="../media/image38.gif"/><Relationship Id="rId11" Type="http://schemas.openxmlformats.org/officeDocument/2006/relationships/image" Target="../media/image21.jpg"/><Relationship Id="rId10" Type="http://schemas.openxmlformats.org/officeDocument/2006/relationships/image" Target="../media/image25.png"/><Relationship Id="rId12" Type="http://schemas.openxmlformats.org/officeDocument/2006/relationships/image" Target="../media/image22.png"/><Relationship Id="rId9" Type="http://schemas.openxmlformats.org/officeDocument/2006/relationships/image" Target="../media/image18.png"/><Relationship Id="rId5" Type="http://schemas.openxmlformats.org/officeDocument/2006/relationships/image" Target="../media/image11.png"/><Relationship Id="rId6" Type="http://schemas.openxmlformats.org/officeDocument/2006/relationships/image" Target="../media/image7.png"/><Relationship Id="rId7" Type="http://schemas.openxmlformats.org/officeDocument/2006/relationships/image" Target="../media/image17.jpg"/><Relationship Id="rId8" Type="http://schemas.openxmlformats.org/officeDocument/2006/relationships/image" Target="../media/image1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6.jpg"/><Relationship Id="rId4" Type="http://schemas.openxmlformats.org/officeDocument/2006/relationships/image" Target="../media/image2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2.png"/><Relationship Id="rId4" Type="http://schemas.openxmlformats.org/officeDocument/2006/relationships/image" Target="../media/image2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2.png"/><Relationship Id="rId4" Type="http://schemas.openxmlformats.org/officeDocument/2006/relationships/image" Target="../media/image2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7.png"/><Relationship Id="rId4" Type="http://schemas.openxmlformats.org/officeDocument/2006/relationships/image" Target="../media/image3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5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3.gif"/><Relationship Id="rId4" Type="http://schemas.openxmlformats.org/officeDocument/2006/relationships/image" Target="../media/image37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s" sz="4800"/>
              <a:t>(CB050) Introducción a la Ciencia de Datos</a:t>
            </a:r>
            <a:endParaRPr sz="4800"/>
          </a:p>
        </p:txBody>
      </p:sp>
      <p:sp>
        <p:nvSpPr>
          <p:cNvPr id="130" name="Google Shape;130;p1"/>
          <p:cNvSpPr txBox="1"/>
          <p:nvPr>
            <p:ph idx="1" type="subTitle"/>
          </p:nvPr>
        </p:nvSpPr>
        <p:spPr>
          <a:xfrm>
            <a:off x="311700" y="2834125"/>
            <a:ext cx="8520600" cy="21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2700">
                <a:solidFill>
                  <a:schemeClr val="dk1"/>
                </a:solidFill>
              </a:rPr>
              <a:t>Marzo</a:t>
            </a:r>
            <a:r>
              <a:rPr lang="es" sz="2700">
                <a:solidFill>
                  <a:schemeClr val="dk1"/>
                </a:solidFill>
              </a:rPr>
              <a:t> 2026</a:t>
            </a:r>
            <a:endParaRPr sz="2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2700">
                <a:solidFill>
                  <a:schemeClr val="dk1"/>
                </a:solidFill>
              </a:rPr>
              <a:t>Docentes: Marina Lagos, Agustín Diez y Lucas Trevisani</a:t>
            </a:r>
            <a:endParaRPr sz="2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e3f1c57373_1_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Organización de la materia</a:t>
            </a:r>
            <a:endParaRPr/>
          </a:p>
        </p:txBody>
      </p:sp>
      <p:sp>
        <p:nvSpPr>
          <p:cNvPr id="136" name="Google Shape;136;g2e3f1c57373_1_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">
                <a:solidFill>
                  <a:schemeClr val="dk1"/>
                </a:solidFill>
              </a:rPr>
              <a:t>3 horas semanales: Martes de 19 a 22 hs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">
                <a:solidFill>
                  <a:schemeClr val="dk1"/>
                </a:solidFill>
              </a:rPr>
              <a:t>Clases virtuales y clases presenciales</a:t>
            </a:r>
            <a:endParaRPr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">
                <a:solidFill>
                  <a:schemeClr val="dk1"/>
                </a:solidFill>
              </a:rPr>
              <a:t>Examen parcial y examen final presenciales</a:t>
            </a:r>
            <a:endParaRPr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">
                <a:solidFill>
                  <a:schemeClr val="dk1"/>
                </a:solidFill>
              </a:rPr>
              <a:t>2 trabajos prácticos en grupo</a:t>
            </a:r>
            <a:r>
              <a:rPr lang="es">
                <a:solidFill>
                  <a:srgbClr val="999999"/>
                </a:solidFill>
              </a:rPr>
              <a:t> de 3 personas (a confirmar)</a:t>
            </a:r>
            <a:endParaRPr>
              <a:solidFill>
                <a:srgbClr val="999999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">
                <a:solidFill>
                  <a:schemeClr val="dk1"/>
                </a:solidFill>
              </a:rPr>
              <a:t>Canal de comunicación: Slack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b="1" lang="es">
                <a:solidFill>
                  <a:schemeClr val="dk1"/>
                </a:solidFill>
              </a:rPr>
              <a:t>No</a:t>
            </a:r>
            <a:r>
              <a:rPr lang="es">
                <a:solidFill>
                  <a:schemeClr val="dk1"/>
                </a:solidFill>
              </a:rPr>
              <a:t> se aceptan excepciones de correlatividad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"/>
              <a:t>¿Qué es la ciencia de datos?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Definición dada por ChatGPT</a:t>
            </a:r>
            <a:endParaRPr/>
          </a:p>
        </p:txBody>
      </p:sp>
      <p:sp>
        <p:nvSpPr>
          <p:cNvPr id="147" name="Google Shape;147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09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La ciencia de datos es un </a:t>
            </a:r>
            <a:r>
              <a:rPr b="1" lang="es">
                <a:solidFill>
                  <a:schemeClr val="dk1"/>
                </a:solidFill>
              </a:rPr>
              <a:t>campo interdisciplinario</a:t>
            </a:r>
            <a:r>
              <a:rPr lang="es">
                <a:solidFill>
                  <a:schemeClr val="dk1"/>
                </a:solidFill>
              </a:rPr>
              <a:t> que se enfoca en </a:t>
            </a:r>
            <a:r>
              <a:rPr b="1" lang="es">
                <a:solidFill>
                  <a:schemeClr val="dk1"/>
                </a:solidFill>
              </a:rPr>
              <a:t>extraer conocimiento</a:t>
            </a:r>
            <a:r>
              <a:rPr lang="es">
                <a:solidFill>
                  <a:schemeClr val="dk1"/>
                </a:solidFill>
              </a:rPr>
              <a:t> y perspectivas útiles a partir de conjuntos de datos, utilizando una combinación de habilidades de </a:t>
            </a:r>
            <a:r>
              <a:rPr b="1" lang="es">
                <a:solidFill>
                  <a:schemeClr val="dk1"/>
                </a:solidFill>
              </a:rPr>
              <a:t>estadística, matemáticas, programación, análisis y conocimientos de dominio específico. </a:t>
            </a:r>
            <a:endParaRPr b="1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09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El proceso de ciencia de datos generalmente implica la </a:t>
            </a:r>
            <a:r>
              <a:rPr b="1" lang="es">
                <a:solidFill>
                  <a:schemeClr val="dk1"/>
                </a:solidFill>
              </a:rPr>
              <a:t>recopilación, limpieza, procesamiento, análisis y visualización de datos</a:t>
            </a:r>
            <a:r>
              <a:rPr lang="es">
                <a:solidFill>
                  <a:schemeClr val="dk1"/>
                </a:solidFill>
              </a:rPr>
              <a:t> para </a:t>
            </a:r>
            <a:r>
              <a:rPr b="1" lang="es">
                <a:solidFill>
                  <a:schemeClr val="dk1"/>
                </a:solidFill>
              </a:rPr>
              <a:t>descubrir patrones, tendencias o relaciones</a:t>
            </a:r>
            <a:r>
              <a:rPr lang="es">
                <a:solidFill>
                  <a:schemeClr val="dk1"/>
                </a:solidFill>
              </a:rPr>
              <a:t> que pueden ayudar a</a:t>
            </a:r>
            <a:r>
              <a:rPr b="1" lang="es">
                <a:solidFill>
                  <a:schemeClr val="dk1"/>
                </a:solidFill>
              </a:rPr>
              <a:t> tomar decisiones informadas </a:t>
            </a:r>
            <a:r>
              <a:rPr lang="es">
                <a:solidFill>
                  <a:schemeClr val="dk1"/>
                </a:solidFill>
              </a:rPr>
              <a:t>o </a:t>
            </a:r>
            <a:r>
              <a:rPr b="1" lang="es">
                <a:solidFill>
                  <a:schemeClr val="dk1"/>
                </a:solidFill>
              </a:rPr>
              <a:t>predecir resultados</a:t>
            </a:r>
            <a:r>
              <a:rPr lang="es">
                <a:solidFill>
                  <a:schemeClr val="dk1"/>
                </a:solidFill>
              </a:rPr>
              <a:t> </a:t>
            </a:r>
            <a:r>
              <a:rPr b="1" lang="es">
                <a:solidFill>
                  <a:schemeClr val="dk1"/>
                </a:solidFill>
              </a:rPr>
              <a:t>futuros </a:t>
            </a:r>
            <a:r>
              <a:rPr lang="es">
                <a:solidFill>
                  <a:schemeClr val="dk1"/>
                </a:solidFill>
              </a:rPr>
              <a:t>en diferentes áreas como negocios, investigación científica, salud, entre otros.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17647"/>
              <a:buNone/>
            </a:pPr>
            <a:r>
              <a:rPr lang="es">
                <a:solidFill>
                  <a:schemeClr val="dk1"/>
                </a:solidFill>
              </a:rPr>
              <a:t>Los científicos de datos utilizan una variedad de herramientas y técnicas, incluyendo algoritmos de aprendizaje automático, minería de datos, análisis predictivo y técnicas de visualización de datos para explorar y comprender los conjuntos de datos con los que trabajan. La ciencia de datos es un campo en constante evolución debido al crecimiento exponencial de los datos y las nuevas tecnologías que surgen para manejar y analizar esos datos de manera más eficiente.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2750" y="1464647"/>
            <a:ext cx="6138501" cy="221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11701" y="525475"/>
            <a:ext cx="4520601" cy="409254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5"/>
          <p:cNvSpPr txBox="1"/>
          <p:nvPr/>
        </p:nvSpPr>
        <p:spPr>
          <a:xfrm>
            <a:off x="6251650" y="3494575"/>
            <a:ext cx="2632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+ comunicación</a:t>
            </a:r>
            <a:endParaRPr b="0" i="0" sz="1800" u="none" cap="none" strike="noStrike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" sz="1800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+ ética</a:t>
            </a:r>
            <a:endParaRPr sz="1800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"/>
              <a:t>¿Por qué ahora?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“Data Science”: Interés a lo largo del tiempo</a:t>
            </a:r>
            <a:endParaRPr/>
          </a:p>
        </p:txBody>
      </p:sp>
      <p:sp>
        <p:nvSpPr>
          <p:cNvPr id="169" name="Google Shape;169;p7"/>
          <p:cNvSpPr txBox="1"/>
          <p:nvPr>
            <p:ph idx="1" type="body"/>
          </p:nvPr>
        </p:nvSpPr>
        <p:spPr>
          <a:xfrm>
            <a:off x="311700" y="4125775"/>
            <a:ext cx="85206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153082"/>
              <a:buNone/>
            </a:pPr>
            <a:r>
              <a:rPr lang="es" sz="1400"/>
              <a:t>Fuente: Google Trends</a:t>
            </a:r>
            <a:endParaRPr sz="1400"/>
          </a:p>
        </p:txBody>
      </p:sp>
      <p:pic>
        <p:nvPicPr>
          <p:cNvPr id="170" name="Google Shape;170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70286"/>
            <a:ext cx="9143999" cy="1802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¿Por qué ahora?</a:t>
            </a:r>
            <a:endParaRPr/>
          </a:p>
        </p:txBody>
      </p:sp>
      <p:sp>
        <p:nvSpPr>
          <p:cNvPr id="176" name="Google Shape;176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>
                <a:solidFill>
                  <a:schemeClr val="dk1"/>
                </a:solidFill>
              </a:rPr>
              <a:t>Avance tecnológico. Aumento exponencial de:</a:t>
            </a:r>
            <a:endParaRPr>
              <a:solidFill>
                <a:schemeClr val="dk1"/>
              </a:solidFill>
            </a:endParaRPr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">
                <a:solidFill>
                  <a:schemeClr val="dk1"/>
                </a:solidFill>
              </a:rPr>
              <a:t>Capacidad de procesamiento</a:t>
            </a:r>
            <a:endParaRPr>
              <a:solidFill>
                <a:schemeClr val="dk1"/>
              </a:solidFill>
            </a:endParaRPr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">
                <a:solidFill>
                  <a:schemeClr val="dk1"/>
                </a:solidFill>
              </a:rPr>
              <a:t>Capacidad de almacenamiento</a:t>
            </a:r>
            <a:endParaRPr>
              <a:solidFill>
                <a:schemeClr val="dk1"/>
              </a:solidFill>
            </a:endParaRPr>
          </a:p>
          <a:p>
            <a:pPr indent="-3429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">
                <a:solidFill>
                  <a:schemeClr val="dk1"/>
                </a:solidFill>
              </a:rPr>
              <a:t>Velocidad de transmisión de datos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>
                <a:solidFill>
                  <a:schemeClr val="dk1"/>
                </a:solidFill>
              </a:rPr>
              <a:t>Datificación - Internet de la cosas (IoT)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>
                <a:solidFill>
                  <a:schemeClr val="dk1"/>
                </a:solidFill>
              </a:rPr>
              <a:t>Democratización de las herramientas de análisis de datos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Proceso de la ciencia de datos</a:t>
            </a:r>
            <a:endParaRPr/>
          </a:p>
        </p:txBody>
      </p:sp>
      <p:pic>
        <p:nvPicPr>
          <p:cNvPr id="182" name="Google Shape;18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2463" y="865450"/>
            <a:ext cx="8259075" cy="341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Bibliografía</a:t>
            </a:r>
            <a:endParaRPr/>
          </a:p>
        </p:txBody>
      </p:sp>
      <p:sp>
        <p:nvSpPr>
          <p:cNvPr id="188" name="Google Shape;188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Char char="-"/>
            </a:pPr>
            <a:r>
              <a:rPr lang="es" sz="1400">
                <a:solidFill>
                  <a:srgbClr val="222222"/>
                </a:solidFill>
                <a:highlight>
                  <a:srgbClr val="FFFFFF"/>
                </a:highlight>
              </a:rPr>
              <a:t>Igual, L., &amp; Seguí, S. (2017). </a:t>
            </a:r>
            <a:r>
              <a:rPr i="1" lang="es" sz="1400">
                <a:solidFill>
                  <a:srgbClr val="222222"/>
                </a:solidFill>
                <a:highlight>
                  <a:srgbClr val="FFFFFF"/>
                </a:highlight>
              </a:rPr>
              <a:t>Introduction to data science.</a:t>
            </a:r>
            <a:r>
              <a:rPr lang="es" sz="1400">
                <a:solidFill>
                  <a:srgbClr val="222222"/>
                </a:solidFill>
                <a:highlight>
                  <a:srgbClr val="FFFFFF"/>
                </a:highlight>
              </a:rPr>
              <a:t> Springer International Publishing</a:t>
            </a:r>
            <a:endParaRPr sz="14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Char char="-"/>
            </a:pPr>
            <a:r>
              <a:rPr lang="es" sz="1400">
                <a:solidFill>
                  <a:srgbClr val="222222"/>
                </a:solidFill>
                <a:highlight>
                  <a:srgbClr val="FFFFFF"/>
                </a:highlight>
              </a:rPr>
              <a:t>Skiena, S. S. (2017). The data science design manual. Springer.</a:t>
            </a:r>
            <a:endParaRPr sz="14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Char char="-"/>
            </a:pPr>
            <a:r>
              <a:rPr lang="es" sz="1400">
                <a:solidFill>
                  <a:srgbClr val="222222"/>
                </a:solidFill>
                <a:highlight>
                  <a:srgbClr val="FFFFFF"/>
                </a:highlight>
              </a:rPr>
              <a:t>Matsumuro, M., &amp; Miwa, K. (2019). Model for data analysis process and its relationship to the hypothesis-driven and data-driven research approaches. In </a:t>
            </a:r>
            <a:r>
              <a:rPr i="1" lang="es" sz="1400">
                <a:solidFill>
                  <a:srgbClr val="222222"/>
                </a:solidFill>
                <a:highlight>
                  <a:srgbClr val="FFFFFF"/>
                </a:highlight>
              </a:rPr>
              <a:t>Intelligent Tutoring Systems: 15th International Conference, ITS 2019, Kingston, Jamaica, June 3–7, 2019, Proceedings 15</a:t>
            </a:r>
            <a:r>
              <a:rPr lang="es" sz="1400">
                <a:solidFill>
                  <a:srgbClr val="222222"/>
                </a:solidFill>
                <a:highlight>
                  <a:srgbClr val="FFFFFF"/>
                </a:highlight>
              </a:rPr>
              <a:t> (pp. 123-132). Springer International Publishing.</a:t>
            </a:r>
            <a:endParaRPr sz="14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3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3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3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300">
              <a:solidFill>
                <a:srgbClr val="222222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s"/>
              <a:t>Algunos conceptos generales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Ciencia de datos</a:t>
            </a:r>
            <a:r>
              <a:rPr lang="es">
                <a:solidFill>
                  <a:srgbClr val="B7B7B7"/>
                </a:solidFill>
              </a:rPr>
              <a:t> - Data science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99" name="Google Shape;199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s"/>
              <a:t>La ciencia de datos es un campo interdisciplinario que se enfoca en </a:t>
            </a:r>
            <a:r>
              <a:rPr b="1" lang="es"/>
              <a:t>extraer conocimiento a partir de conjuntos de datos</a:t>
            </a:r>
            <a:r>
              <a:rPr lang="es"/>
              <a:t>, utilizando una combinación de herramientas que incluyen estadística, matemática, programación, análisis y conocimientos de dominio específico. El proceso de ciencia de datos generalmente implica la recopilación, limpieza, procesamiento, análisis y visualización de datos para descubrir patrones, tendencias o relaciones que pueden ayudar a tomar decisiones informadas o predecir resultados futuros en diferentes áreas como negocios, investigación científica, salud, entre otros.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Inteligencia artificial (IA) </a:t>
            </a:r>
            <a:r>
              <a:rPr lang="es">
                <a:solidFill>
                  <a:srgbClr val="B7B7B7"/>
                </a:solidFill>
              </a:rPr>
              <a:t>- Artificial intelligence (AI)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205" name="Google Shape;20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"/>
              <a:t>Es una rama dentro de las ciencias de la computación que se dedica a la creación de sistemas que pueden </a:t>
            </a:r>
            <a:r>
              <a:rPr b="1" lang="es"/>
              <a:t>imitar la inteligencia humana</a:t>
            </a:r>
            <a:r>
              <a:rPr lang="es"/>
              <a:t>, permitiéndoles realizar actividades que normalmente necesitan </a:t>
            </a:r>
            <a:r>
              <a:rPr b="1" lang="es"/>
              <a:t>procesos cognitivos</a:t>
            </a:r>
            <a:r>
              <a:rPr lang="es"/>
              <a:t> humanos. Estos sistemas están diseñados para replicar comportamientos humanos como </a:t>
            </a:r>
            <a:r>
              <a:rPr b="1" lang="es"/>
              <a:t>aprender, resolver problemas, tomar decisiones y comprender el lenguaje natural.</a:t>
            </a:r>
            <a:r>
              <a:rPr lang="es"/>
              <a:t> 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s"/>
              <a:t>La IA tiene como objetivo desarrollar dispositivos capaces de detectar su entorno, captar el contexto y modificar su comportamiento de forma independiente para cumplir objetivos particulares.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Aprendizaje automático (AA) </a:t>
            </a:r>
            <a:r>
              <a:rPr lang="es">
                <a:solidFill>
                  <a:srgbClr val="B7B7B7"/>
                </a:solidFill>
              </a:rPr>
              <a:t>- Machine Learning (ML)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211" name="Google Shape;211;p14"/>
          <p:cNvSpPr txBox="1"/>
          <p:nvPr>
            <p:ph idx="1" type="body"/>
          </p:nvPr>
        </p:nvSpPr>
        <p:spPr>
          <a:xfrm>
            <a:off x="311700" y="1152475"/>
            <a:ext cx="5902800" cy="15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7"/>
              <a:buChar char="●"/>
            </a:pPr>
            <a:r>
              <a:rPr lang="es"/>
              <a:t>Samuel (1959):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08107"/>
              <a:buNone/>
            </a:pPr>
            <a:r>
              <a:rPr lang="es"/>
              <a:t>Campo de estudio que le da a las computadoras la habilidad de </a:t>
            </a:r>
            <a:r>
              <a:rPr b="1" lang="es"/>
              <a:t>aprender sin ser programadas de manera explícita</a:t>
            </a:r>
            <a:r>
              <a:rPr lang="es"/>
              <a:t>. </a:t>
            </a:r>
            <a:endParaRPr/>
          </a:p>
        </p:txBody>
      </p:sp>
      <p:grpSp>
        <p:nvGrpSpPr>
          <p:cNvPr id="212" name="Google Shape;212;p14"/>
          <p:cNvGrpSpPr/>
          <p:nvPr/>
        </p:nvGrpSpPr>
        <p:grpSpPr>
          <a:xfrm>
            <a:off x="6363975" y="1597029"/>
            <a:ext cx="2468329" cy="2527126"/>
            <a:chOff x="2961500" y="961400"/>
            <a:chExt cx="3221100" cy="3220500"/>
          </a:xfrm>
        </p:grpSpPr>
        <p:sp>
          <p:nvSpPr>
            <p:cNvPr id="213" name="Google Shape;213;p14"/>
            <p:cNvSpPr/>
            <p:nvPr/>
          </p:nvSpPr>
          <p:spPr>
            <a:xfrm>
              <a:off x="2961500" y="961400"/>
              <a:ext cx="3221100" cy="3220500"/>
            </a:xfrm>
            <a:prstGeom prst="ellipse">
              <a:avLst/>
            </a:prstGeom>
            <a:solidFill>
              <a:srgbClr val="155B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14"/>
            <p:cNvSpPr txBox="1"/>
            <p:nvPr/>
          </p:nvSpPr>
          <p:spPr>
            <a:xfrm>
              <a:off x="3782900" y="1200950"/>
              <a:ext cx="1578000" cy="56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s" sz="15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Artificial intelligence</a:t>
              </a:r>
              <a:endParaRPr b="0" i="0" sz="1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15" name="Google Shape;215;p14"/>
          <p:cNvGrpSpPr/>
          <p:nvPr/>
        </p:nvGrpSpPr>
        <p:grpSpPr>
          <a:xfrm>
            <a:off x="6701289" y="2287638"/>
            <a:ext cx="1793602" cy="1836669"/>
            <a:chOff x="3401686" y="1841492"/>
            <a:chExt cx="2340600" cy="2340600"/>
          </a:xfrm>
        </p:grpSpPr>
        <p:sp>
          <p:nvSpPr>
            <p:cNvPr id="216" name="Google Shape;216;p14"/>
            <p:cNvSpPr/>
            <p:nvPr/>
          </p:nvSpPr>
          <p:spPr>
            <a:xfrm>
              <a:off x="3401686" y="1841492"/>
              <a:ext cx="2340600" cy="2340600"/>
            </a:xfrm>
            <a:prstGeom prst="ellipse">
              <a:avLst/>
            </a:prstGeom>
            <a:solidFill>
              <a:srgbClr val="1D7E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14"/>
            <p:cNvSpPr txBox="1"/>
            <p:nvPr/>
          </p:nvSpPr>
          <p:spPr>
            <a:xfrm>
              <a:off x="3833274" y="2126800"/>
              <a:ext cx="1477200" cy="53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s" sz="15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Machine learning</a:t>
              </a:r>
              <a:endParaRPr b="0" i="0" sz="1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18" name="Google Shape;218;p14"/>
          <p:cNvGrpSpPr/>
          <p:nvPr/>
        </p:nvGrpSpPr>
        <p:grpSpPr>
          <a:xfrm>
            <a:off x="7032281" y="2965165"/>
            <a:ext cx="1131748" cy="1159159"/>
            <a:chOff x="3833620" y="2704915"/>
            <a:chExt cx="1476900" cy="1477200"/>
          </a:xfrm>
        </p:grpSpPr>
        <p:sp>
          <p:nvSpPr>
            <p:cNvPr id="219" name="Google Shape;219;p14"/>
            <p:cNvSpPr/>
            <p:nvPr/>
          </p:nvSpPr>
          <p:spPr>
            <a:xfrm>
              <a:off x="3833620" y="2704915"/>
              <a:ext cx="1476900" cy="1477200"/>
            </a:xfrm>
            <a:prstGeom prst="ellipse">
              <a:avLst/>
            </a:prstGeom>
            <a:solidFill>
              <a:srgbClr val="249C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14"/>
            <p:cNvSpPr txBox="1"/>
            <p:nvPr/>
          </p:nvSpPr>
          <p:spPr>
            <a:xfrm>
              <a:off x="3957047" y="3143188"/>
              <a:ext cx="1230000" cy="64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s" sz="15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Deep learning</a:t>
              </a:r>
              <a:endParaRPr b="0" i="0" sz="1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21" name="Google Shape;221;p14"/>
          <p:cNvSpPr txBox="1"/>
          <p:nvPr/>
        </p:nvSpPr>
        <p:spPr>
          <a:xfrm>
            <a:off x="311700" y="2745775"/>
            <a:ext cx="6052200" cy="18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Mitchell (1997):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 dice que un programa computacional aprende de la</a:t>
            </a:r>
            <a:r>
              <a:rPr b="1" i="0" lang="e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experiencia E</a:t>
            </a:r>
            <a:r>
              <a:rPr b="0" i="0" lang="e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con respecto a una </a:t>
            </a:r>
            <a:r>
              <a:rPr b="1" i="0" lang="e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tarea T </a:t>
            </a:r>
            <a:r>
              <a:rPr b="0" i="0" lang="e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y una medida de </a:t>
            </a:r>
            <a:r>
              <a:rPr b="1" i="0" lang="e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performance P</a:t>
            </a:r>
            <a:r>
              <a:rPr b="0" i="0" lang="e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si su performance en la tarea T, medida por P, mejora con la experiencia 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Ejemplo 1: Clasificación de correo electrónico (Spam/No spam)</a:t>
            </a:r>
            <a:endParaRPr/>
          </a:p>
        </p:txBody>
      </p:sp>
      <p:sp>
        <p:nvSpPr>
          <p:cNvPr id="227" name="Google Shape;227;p15"/>
          <p:cNvSpPr txBox="1"/>
          <p:nvPr>
            <p:ph idx="1" type="body"/>
          </p:nvPr>
        </p:nvSpPr>
        <p:spPr>
          <a:xfrm>
            <a:off x="311700" y="3735287"/>
            <a:ext cx="4791928" cy="963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/>
              <a:t>P:</a:t>
            </a:r>
            <a:r>
              <a:rPr lang="es"/>
              <a:t> Proporción de correos electrónicos correctamente clasificados.</a:t>
            </a:r>
            <a:endParaRPr/>
          </a:p>
        </p:txBody>
      </p:sp>
      <p:sp>
        <p:nvSpPr>
          <p:cNvPr id="228" name="Google Shape;228;p15"/>
          <p:cNvSpPr txBox="1"/>
          <p:nvPr/>
        </p:nvSpPr>
        <p:spPr>
          <a:xfrm>
            <a:off x="311700" y="1882063"/>
            <a:ext cx="852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T:</a:t>
            </a:r>
            <a:r>
              <a:rPr b="0" i="0" lang="e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Clasificar correos electrónicos como spam o no spam.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5"/>
          <p:cNvSpPr txBox="1"/>
          <p:nvPr/>
        </p:nvSpPr>
        <p:spPr>
          <a:xfrm>
            <a:off x="311700" y="2409248"/>
            <a:ext cx="4862812" cy="129417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E:</a:t>
            </a:r>
            <a:r>
              <a:rPr b="0" i="0" lang="e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El sistema se entrena con un conjunto de correos electrónicos identificados previamente como spam o no spam.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agrama&#10;&#10;El contenido generado por IA puede ser incorrecto." id="230" name="Google Shape;23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8554" y="1514253"/>
            <a:ext cx="4465560" cy="36292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Ejemplo 2: Reconocimiento de voz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236" name="Google Shape;236;p16"/>
          <p:cNvSpPr txBox="1"/>
          <p:nvPr>
            <p:ph idx="1" type="body"/>
          </p:nvPr>
        </p:nvSpPr>
        <p:spPr>
          <a:xfrm>
            <a:off x="311700" y="2869225"/>
            <a:ext cx="8520600" cy="7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b="1" lang="es"/>
              <a:t>P:</a:t>
            </a:r>
            <a:r>
              <a:rPr lang="es"/>
              <a:t> Porcentaje de palabras correctamente transcritas.</a:t>
            </a:r>
            <a:endParaRPr/>
          </a:p>
        </p:txBody>
      </p:sp>
      <p:sp>
        <p:nvSpPr>
          <p:cNvPr id="237" name="Google Shape;237;p16"/>
          <p:cNvSpPr txBox="1"/>
          <p:nvPr/>
        </p:nvSpPr>
        <p:spPr>
          <a:xfrm>
            <a:off x="311700" y="1636725"/>
            <a:ext cx="852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T:</a:t>
            </a:r>
            <a:r>
              <a:rPr b="0" i="0" lang="e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Transcribir palabras habladas a texto.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6"/>
          <p:cNvSpPr txBox="1"/>
          <p:nvPr/>
        </p:nvSpPr>
        <p:spPr>
          <a:xfrm>
            <a:off x="311700" y="2181600"/>
            <a:ext cx="85206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E:</a:t>
            </a:r>
            <a:r>
              <a:rPr b="0" i="0" lang="e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El sistema se entrena con grabaciones de voz y las transcripciones correspondientes.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Ejemplo 3: Recomendación de películas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244" name="Google Shape;244;p17"/>
          <p:cNvSpPr txBox="1"/>
          <p:nvPr>
            <p:ph idx="1" type="body"/>
          </p:nvPr>
        </p:nvSpPr>
        <p:spPr>
          <a:xfrm>
            <a:off x="311700" y="3038100"/>
            <a:ext cx="8520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b="1" lang="es"/>
              <a:t>P: </a:t>
            </a:r>
            <a:r>
              <a:rPr lang="es"/>
              <a:t>porcentaje de películas recomendadas que el usuario realmente ve o califica positivamente.</a:t>
            </a:r>
            <a:endParaRPr/>
          </a:p>
        </p:txBody>
      </p:sp>
      <p:sp>
        <p:nvSpPr>
          <p:cNvPr id="245" name="Google Shape;245;p17"/>
          <p:cNvSpPr txBox="1"/>
          <p:nvPr/>
        </p:nvSpPr>
        <p:spPr>
          <a:xfrm>
            <a:off x="311700" y="1643700"/>
            <a:ext cx="852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T: </a:t>
            </a:r>
            <a:r>
              <a:rPr b="0" i="0" lang="e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Recomendar películas a un usuario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7"/>
          <p:cNvSpPr txBox="1"/>
          <p:nvPr/>
        </p:nvSpPr>
        <p:spPr>
          <a:xfrm>
            <a:off x="311700" y="2257800"/>
            <a:ext cx="85206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E: </a:t>
            </a:r>
            <a:r>
              <a:rPr b="0" i="0" lang="e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Historial de películas que el usuario vio y calificó, comportamientos de otros usuarios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Ejemplo 3: Recomendación de películas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pic>
        <p:nvPicPr>
          <p:cNvPr id="252" name="Google Shape;25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5302" y="1017725"/>
            <a:ext cx="6673396" cy="40742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Ejemplo 4: Diagnóstico médico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258" name="Google Shape;258;p18"/>
          <p:cNvSpPr txBox="1"/>
          <p:nvPr>
            <p:ph idx="1" type="body"/>
          </p:nvPr>
        </p:nvSpPr>
        <p:spPr>
          <a:xfrm>
            <a:off x="311700" y="3103550"/>
            <a:ext cx="85206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b="1" lang="es"/>
              <a:t>P:</a:t>
            </a:r>
            <a:r>
              <a:rPr lang="es"/>
              <a:t> Tasa de aciertos en el diagnóstico o métricas como la sensibilidad y especificidad.</a:t>
            </a:r>
            <a:endParaRPr/>
          </a:p>
        </p:txBody>
      </p:sp>
      <p:sp>
        <p:nvSpPr>
          <p:cNvPr id="259" name="Google Shape;259;p18"/>
          <p:cNvSpPr txBox="1"/>
          <p:nvPr/>
        </p:nvSpPr>
        <p:spPr>
          <a:xfrm>
            <a:off x="311700" y="1390550"/>
            <a:ext cx="85206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T:</a:t>
            </a:r>
            <a:r>
              <a:rPr b="0" i="0" lang="e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Diagnosticar enfermedades a partir de síntomas y resultados de pruebas médicas.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8"/>
          <p:cNvSpPr txBox="1"/>
          <p:nvPr/>
        </p:nvSpPr>
        <p:spPr>
          <a:xfrm>
            <a:off x="311700" y="2247038"/>
            <a:ext cx="85206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E:</a:t>
            </a:r>
            <a:r>
              <a:rPr b="0" i="0" lang="e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Historiales médicos de pacientes, incluyendo síntomas, pruebas y diagnósticos confirmados.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AA es útil para:</a:t>
            </a:r>
            <a:endParaRPr/>
          </a:p>
        </p:txBody>
      </p:sp>
      <p:sp>
        <p:nvSpPr>
          <p:cNvPr id="266" name="Google Shape;26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Problemas cuyas soluciones existentes requieren muchos ajustes o largas listas de reglas.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Problemas complejos para los cuales el uso de un enfoque tradicional no ofrece una buena solución. 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Entornos cambiantes (un sistema de machine learning puede reentrenarse fácilmente con datos nuevos y mantenerse siempre actualizado). 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Obtener un entendimiento de problemas complejos y grandes cantidades de datos.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agrama&#10;&#10;El contenido generado por IA puede ser incorrecto." id="271" name="Google Shape;271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3869"/>
            <a:ext cx="9144000" cy="5015762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50"/>
          <p:cNvSpPr txBox="1"/>
          <p:nvPr/>
        </p:nvSpPr>
        <p:spPr>
          <a:xfrm>
            <a:off x="1009250" y="1770800"/>
            <a:ext cx="1588200" cy="91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chemeClr val="dk2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¿Por qué el AA es útil?</a:t>
            </a:r>
            <a:endParaRPr b="1" i="0" sz="1800" u="none" cap="none" strike="noStrike">
              <a:solidFill>
                <a:schemeClr val="dk2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Bibliografía</a:t>
            </a:r>
            <a:endParaRPr/>
          </a:p>
        </p:txBody>
      </p:sp>
      <p:sp>
        <p:nvSpPr>
          <p:cNvPr id="278" name="Google Shape;27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Char char="-"/>
            </a:pPr>
            <a:r>
              <a:rPr lang="es" sz="1600">
                <a:solidFill>
                  <a:srgbClr val="222222"/>
                </a:solidFill>
                <a:highlight>
                  <a:srgbClr val="FFFFFF"/>
                </a:highlight>
              </a:rPr>
              <a:t>Géron, A. (2020). Aprende machine learning con scikit-learn, keras y tensorflow.</a:t>
            </a:r>
            <a:endParaRPr sz="16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Char char="-"/>
            </a:pPr>
            <a:r>
              <a:rPr lang="es" sz="1600">
                <a:solidFill>
                  <a:srgbClr val="222222"/>
                </a:solidFill>
                <a:highlight>
                  <a:srgbClr val="FFFFFF"/>
                </a:highlight>
              </a:rPr>
              <a:t>https://www.ibm.com/blog/data-science-vs-machine-learning-whats-the-difference/</a:t>
            </a:r>
            <a:endParaRPr sz="1600">
              <a:solidFill>
                <a:srgbClr val="222222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s"/>
              <a:t>Ejemplos de aplicación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78009" y="0"/>
            <a:ext cx="237083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Modelos predictivos</a:t>
            </a:r>
            <a:endParaRPr/>
          </a:p>
        </p:txBody>
      </p:sp>
      <p:sp>
        <p:nvSpPr>
          <p:cNvPr id="290" name="Google Shape;290;p23"/>
          <p:cNvSpPr txBox="1"/>
          <p:nvPr>
            <p:ph idx="1" type="body"/>
          </p:nvPr>
        </p:nvSpPr>
        <p:spPr>
          <a:xfrm>
            <a:off x="302245" y="4495542"/>
            <a:ext cx="45168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s" sz="1100" u="sng">
                <a:solidFill>
                  <a:schemeClr val="hlink"/>
                </a:solidFill>
                <a:hlinkClick r:id="rId4"/>
              </a:rPr>
              <a:t>Can AI help us predict extreme weather? (youtube.com)</a:t>
            </a:r>
            <a:endParaRPr/>
          </a:p>
        </p:txBody>
      </p:sp>
      <p:pic>
        <p:nvPicPr>
          <p:cNvPr id="291" name="Google Shape;29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2013" y="1986748"/>
            <a:ext cx="4417225" cy="250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3"/>
          <p:cNvSpPr txBox="1"/>
          <p:nvPr/>
        </p:nvSpPr>
        <p:spPr>
          <a:xfrm>
            <a:off x="302250" y="1017725"/>
            <a:ext cx="4857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Predicción de tiempo de viaje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Predicción de fraude financiero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Predicción de eventos meteorológicos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Clasificación de imágenes</a:t>
            </a:r>
            <a:endParaRPr/>
          </a:p>
        </p:txBody>
      </p:sp>
      <p:pic>
        <p:nvPicPr>
          <p:cNvPr id="298" name="Google Shape;29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330263"/>
            <a:ext cx="8281999" cy="2482975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4"/>
          <p:cNvSpPr txBox="1"/>
          <p:nvPr/>
        </p:nvSpPr>
        <p:spPr>
          <a:xfrm>
            <a:off x="164850" y="4125775"/>
            <a:ext cx="8667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sng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Recent advancement in cancer detection using machine learning: Systematic survey of decades, comparisons and challenges - ScienceDirect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Clasificación de imágenes</a:t>
            </a:r>
            <a:endParaRPr/>
          </a:p>
        </p:txBody>
      </p:sp>
      <p:pic>
        <p:nvPicPr>
          <p:cNvPr id="305" name="Google Shape;30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9513" y="1365050"/>
            <a:ext cx="5284973" cy="3331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Procesamiento de lenguaje natural (NLP)</a:t>
            </a:r>
            <a:endParaRPr/>
          </a:p>
        </p:txBody>
      </p:sp>
      <p:pic>
        <p:nvPicPr>
          <p:cNvPr id="311" name="Google Shape;31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7263" y="1509713"/>
            <a:ext cx="7229475" cy="212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7100" y="1209300"/>
            <a:ext cx="5718874" cy="3035075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Sistemas de recomendación</a:t>
            </a:r>
            <a:endParaRPr/>
          </a:p>
        </p:txBody>
      </p:sp>
      <p:pic>
        <p:nvPicPr>
          <p:cNvPr id="318" name="Google Shape;318;p27"/>
          <p:cNvPicPr preferRelativeResize="0"/>
          <p:nvPr/>
        </p:nvPicPr>
        <p:blipFill rotWithShape="1">
          <a:blip r:embed="rId4">
            <a:alphaModFix/>
          </a:blip>
          <a:srcRect b="0" l="51620" r="0" t="0"/>
          <a:stretch/>
        </p:blipFill>
        <p:spPr>
          <a:xfrm>
            <a:off x="6775575" y="1148288"/>
            <a:ext cx="1616074" cy="3157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0"/>
          <p:cNvSpPr txBox="1"/>
          <p:nvPr>
            <p:ph type="title"/>
          </p:nvPr>
        </p:nvSpPr>
        <p:spPr>
          <a:xfrm>
            <a:off x="311700" y="3054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Visión artificial</a:t>
            </a:r>
            <a:endParaRPr/>
          </a:p>
        </p:txBody>
      </p:sp>
      <p:pic>
        <p:nvPicPr>
          <p:cNvPr descr="Microsoft is partnering with DJI to build a new drone SDK for Windows  which allows it to directly connect DJI’s drones with Windows computers.&#10;&#10;The SDK will also make possible to integrate third-party hardware like multispectral sensors or custom actuators with DJI’s drones, expanding what customers will be able to do with their drones." id="324" name="Google Shape;324;p30" title="Microsoft partners with DJI on a new Windows 10 drone SDK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8000" y="878100"/>
            <a:ext cx="6408000" cy="36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0"/>
          <p:cNvSpPr txBox="1"/>
          <p:nvPr/>
        </p:nvSpPr>
        <p:spPr>
          <a:xfrm>
            <a:off x="396450" y="4600500"/>
            <a:ext cx="835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Detección de anomalías - Control de calidad - Mantenimiento predictivo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Análisis de grafos (redes)</a:t>
            </a:r>
            <a:endParaRPr/>
          </a:p>
        </p:txBody>
      </p:sp>
      <p:pic>
        <p:nvPicPr>
          <p:cNvPr id="331" name="Google Shape;33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8150" y="1017713"/>
            <a:ext cx="4537200" cy="32469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2"/>
          <p:cNvSpPr txBox="1"/>
          <p:nvPr/>
        </p:nvSpPr>
        <p:spPr>
          <a:xfrm>
            <a:off x="2297050" y="4341375"/>
            <a:ext cx="46488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(PDF) Characteristic patterns of inter- and intra-hemispheric metabolic connectivity in patients with stable and progressive mild cognitive impairment and Alzheimer’s disease (researchgate.net)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765475c4f0_1_274"/>
          <p:cNvSpPr txBox="1"/>
          <p:nvPr/>
        </p:nvSpPr>
        <p:spPr>
          <a:xfrm>
            <a:off x="714375" y="1440063"/>
            <a:ext cx="4451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trabajo del científico de datos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g3765475c4f0_1_274"/>
          <p:cNvSpPr txBox="1"/>
          <p:nvPr/>
        </p:nvSpPr>
        <p:spPr>
          <a:xfrm>
            <a:off x="714375" y="2742649"/>
            <a:ext cx="6518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detrás de los algoritmos: roles, responsabilidades y un “golpe” de realidad 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" name="Google Shape;343;g3765475c4f0_1_279" title="Captura de pantalla 2025-08-16 a la(s) 10.39.58 a. m..png"/>
          <p:cNvPicPr preferRelativeResize="0"/>
          <p:nvPr/>
        </p:nvPicPr>
        <p:blipFill rotWithShape="1">
          <a:blip r:embed="rId3">
            <a:alphaModFix/>
          </a:blip>
          <a:srcRect b="0" l="11276" r="0" t="0"/>
          <a:stretch/>
        </p:blipFill>
        <p:spPr>
          <a:xfrm>
            <a:off x="3818162" y="1805113"/>
            <a:ext cx="2813464" cy="20879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e inside of a car with a steering wheel and a dashboard that says ' passenger ' on it (proporcionado por Tenor)" id="344" name="Google Shape;344;g3765475c4f0_1_2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2463" y="1268099"/>
            <a:ext cx="2371725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g3765475c4f0_1_279" title="Captura de pantalla 2025-08-16 a la(s) 10.33.32 a. m..png"/>
          <p:cNvPicPr preferRelativeResize="0"/>
          <p:nvPr/>
        </p:nvPicPr>
        <p:blipFill rotWithShape="1">
          <a:blip r:embed="rId5">
            <a:alphaModFix/>
          </a:blip>
          <a:srcRect b="0" l="5114" r="0" t="3864"/>
          <a:stretch/>
        </p:blipFill>
        <p:spPr>
          <a:xfrm>
            <a:off x="6665823" y="1903256"/>
            <a:ext cx="1369550" cy="2414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g3765475c4f0_1_279" title="Captura de pantalla 2025-08-16 a la(s) 10.36.37 a. m.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34206" y="1374537"/>
            <a:ext cx="1503438" cy="307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g3765475c4f0_1_27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600237" y="272963"/>
            <a:ext cx="1426647" cy="3095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g3765475c4f0_1_279"/>
          <p:cNvPicPr preferRelativeResize="0"/>
          <p:nvPr/>
        </p:nvPicPr>
        <p:blipFill rotWithShape="1">
          <a:blip r:embed="rId8">
            <a:alphaModFix/>
          </a:blip>
          <a:srcRect b="0" l="45304" r="0" t="0"/>
          <a:stretch/>
        </p:blipFill>
        <p:spPr>
          <a:xfrm>
            <a:off x="5791548" y="535075"/>
            <a:ext cx="1536927" cy="1432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g3765475c4f0_1_279" title="Captura de pantalla 2025-08-16 a la(s) 10.11.48 a. m..png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8569" y="2991050"/>
            <a:ext cx="2813463" cy="1533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g3765475c4f0_1_279" title="Captura de pantalla 2025-08-16 a la(s) 10.45.05 a. m..png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581738" y="3608887"/>
            <a:ext cx="1916825" cy="12478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3D Isometric Flat Vector Conceptual Illustration of Customer Segmentation (proporcionado por Getty Images)" id="351" name="Google Shape;351;g3765475c4f0_1_27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079688" y="176325"/>
            <a:ext cx="1612477" cy="1074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g3765475c4f0_1_279" title="Captura de pantalla 2025-08-16 a la(s) 11.36.46 a. m..png"/>
          <p:cNvPicPr preferRelativeResize="0"/>
          <p:nvPr/>
        </p:nvPicPr>
        <p:blipFill rotWithShape="1">
          <a:blip r:embed="rId12">
            <a:alphaModFix/>
          </a:blip>
          <a:srcRect b="0" l="4844" r="3914" t="3623"/>
          <a:stretch/>
        </p:blipFill>
        <p:spPr>
          <a:xfrm>
            <a:off x="7398963" y="685900"/>
            <a:ext cx="1328300" cy="1687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765475c4f0_1_292"/>
          <p:cNvSpPr txBox="1"/>
          <p:nvPr/>
        </p:nvSpPr>
        <p:spPr>
          <a:xfrm>
            <a:off x="431325" y="2432737"/>
            <a:ext cx="347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pero esto no arranca acá, hay bastante trabajo detrás</a:t>
            </a:r>
            <a:endParaRPr b="0" i="0" sz="1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Iceberg floating in water. Arctic glacier. Futuristic polygonal illustration on blue background. Huge white block of ice drifts with massive underwater part (proporcionado por Getty Images)" id="358" name="Google Shape;358;g3765475c4f0_1_2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20862" y="418725"/>
            <a:ext cx="3132875" cy="40711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g3765475c4f0_1_292" title="Captura de pantalla 2025-08-16 a la(s) 10.45.05 a. m.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84275" y="1112938"/>
            <a:ext cx="806044" cy="524738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g3765475c4f0_1_292"/>
          <p:cNvSpPr txBox="1"/>
          <p:nvPr/>
        </p:nvSpPr>
        <p:spPr>
          <a:xfrm>
            <a:off x="5175125" y="806550"/>
            <a:ext cx="17181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modelo la probabilidad de que no me devuelvan el dinero</a:t>
            </a:r>
            <a:endParaRPr b="0" i="0" sz="9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1" name="Google Shape;361;g3765475c4f0_1_292"/>
          <p:cNvSpPr txBox="1"/>
          <p:nvPr/>
        </p:nvSpPr>
        <p:spPr>
          <a:xfrm>
            <a:off x="4650713" y="1829963"/>
            <a:ext cx="9336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implementación</a:t>
            </a:r>
            <a:endParaRPr b="0" i="0" sz="9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2" name="Google Shape;362;g3765475c4f0_1_292"/>
          <p:cNvSpPr txBox="1"/>
          <p:nvPr/>
        </p:nvSpPr>
        <p:spPr>
          <a:xfrm>
            <a:off x="4997075" y="2070769"/>
            <a:ext cx="8766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infraestructura</a:t>
            </a:r>
            <a:endParaRPr b="0" i="0" sz="9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3" name="Google Shape;363;g3765475c4f0_1_292"/>
          <p:cNvSpPr txBox="1"/>
          <p:nvPr/>
        </p:nvSpPr>
        <p:spPr>
          <a:xfrm>
            <a:off x="5725775" y="1829963"/>
            <a:ext cx="8766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monitoreo</a:t>
            </a:r>
            <a:endParaRPr b="0" i="0" sz="9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4" name="Google Shape;364;g3765475c4f0_1_292"/>
          <p:cNvSpPr txBox="1"/>
          <p:nvPr/>
        </p:nvSpPr>
        <p:spPr>
          <a:xfrm>
            <a:off x="6250575" y="1987725"/>
            <a:ext cx="9789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interpretabilidad</a:t>
            </a:r>
            <a:endParaRPr b="0" i="0" sz="9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5" name="Google Shape;365;g3765475c4f0_1_292"/>
          <p:cNvSpPr txBox="1"/>
          <p:nvPr/>
        </p:nvSpPr>
        <p:spPr>
          <a:xfrm>
            <a:off x="4849175" y="2412788"/>
            <a:ext cx="8766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qué algoritmo elijo?</a:t>
            </a:r>
            <a:endParaRPr b="0" i="0" sz="9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6" name="Google Shape;366;g3765475c4f0_1_292"/>
          <p:cNvSpPr txBox="1"/>
          <p:nvPr/>
        </p:nvSpPr>
        <p:spPr>
          <a:xfrm>
            <a:off x="5802138" y="2311575"/>
            <a:ext cx="10503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analisis de sesgos</a:t>
            </a:r>
            <a:endParaRPr b="0" i="0" sz="9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7" name="Google Shape;367;g3765475c4f0_1_292"/>
          <p:cNvSpPr txBox="1"/>
          <p:nvPr/>
        </p:nvSpPr>
        <p:spPr>
          <a:xfrm>
            <a:off x="5842925" y="2658925"/>
            <a:ext cx="12591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Ingeniería de features</a:t>
            </a:r>
            <a:endParaRPr b="0" i="0" sz="9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8" name="Google Shape;368;g3765475c4f0_1_292"/>
          <p:cNvSpPr txBox="1"/>
          <p:nvPr/>
        </p:nvSpPr>
        <p:spPr>
          <a:xfrm>
            <a:off x="4609938" y="2793188"/>
            <a:ext cx="14781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limpieza y preprocesamiento</a:t>
            </a:r>
            <a:endParaRPr b="0" i="0" sz="9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" name="Google Shape;369;g3765475c4f0_1_292"/>
          <p:cNvSpPr txBox="1"/>
          <p:nvPr/>
        </p:nvSpPr>
        <p:spPr>
          <a:xfrm>
            <a:off x="5725775" y="3006275"/>
            <a:ext cx="14781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análisis exploratorio</a:t>
            </a:r>
            <a:endParaRPr b="0" i="0" sz="9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0" name="Google Shape;370;g3765475c4f0_1_292"/>
          <p:cNvSpPr txBox="1"/>
          <p:nvPr/>
        </p:nvSpPr>
        <p:spPr>
          <a:xfrm>
            <a:off x="5489963" y="3721800"/>
            <a:ext cx="12591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definición del problema de negocio</a:t>
            </a:r>
            <a:endParaRPr b="0" i="0" sz="9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1" name="Google Shape;371;g3765475c4f0_1_292"/>
          <p:cNvSpPr txBox="1"/>
          <p:nvPr/>
        </p:nvSpPr>
        <p:spPr>
          <a:xfrm>
            <a:off x="4859463" y="3403450"/>
            <a:ext cx="9789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requerimientos legales</a:t>
            </a:r>
            <a:endParaRPr b="0" i="0" sz="9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2" name="Google Shape;372;g3765475c4f0_1_292"/>
          <p:cNvSpPr txBox="1"/>
          <p:nvPr/>
        </p:nvSpPr>
        <p:spPr>
          <a:xfrm>
            <a:off x="5896925" y="4416500"/>
            <a:ext cx="11358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s" sz="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qué considero default?</a:t>
            </a:r>
            <a:endParaRPr b="0" i="0" sz="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3" name="Google Shape;373;g3765475c4f0_1_292"/>
          <p:cNvSpPr txBox="1"/>
          <p:nvPr/>
        </p:nvSpPr>
        <p:spPr>
          <a:xfrm>
            <a:off x="6250575" y="3364031"/>
            <a:ext cx="9054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recolección de datos</a:t>
            </a:r>
            <a:endParaRPr b="0" i="0" sz="9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4" name="Google Shape;374;g3765475c4f0_1_292"/>
          <p:cNvSpPr txBox="1"/>
          <p:nvPr/>
        </p:nvSpPr>
        <p:spPr>
          <a:xfrm>
            <a:off x="7524950" y="3506250"/>
            <a:ext cx="11358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s" sz="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central de deudores</a:t>
            </a:r>
            <a:endParaRPr b="0" i="0" sz="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s" sz="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historial crediticio</a:t>
            </a:r>
            <a:endParaRPr b="0" i="0" sz="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s" sz="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datos del cliente</a:t>
            </a:r>
            <a:endParaRPr b="0" i="0" sz="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s" sz="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inversiones</a:t>
            </a:r>
            <a:endParaRPr b="0" i="0" sz="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s" sz="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transferencias</a:t>
            </a:r>
            <a:endParaRPr b="0" i="0" sz="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s" sz="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variables económicas</a:t>
            </a:r>
            <a:endParaRPr b="0" i="0" sz="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s" sz="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tabla de créditos</a:t>
            </a:r>
            <a:endParaRPr b="0" i="0" sz="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s" sz="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tabla de cuotas</a:t>
            </a:r>
            <a:endParaRPr b="0" i="0" sz="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5" name="Google Shape;375;g3765475c4f0_1_292"/>
          <p:cNvSpPr txBox="1"/>
          <p:nvPr/>
        </p:nvSpPr>
        <p:spPr>
          <a:xfrm>
            <a:off x="3550763" y="3187900"/>
            <a:ext cx="11358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s" sz="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tengo alguna variable con errores o sin información?</a:t>
            </a:r>
            <a:endParaRPr b="0" i="0" sz="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6" name="Google Shape;376;g3765475c4f0_1_292"/>
          <p:cNvSpPr txBox="1"/>
          <p:nvPr/>
        </p:nvSpPr>
        <p:spPr>
          <a:xfrm>
            <a:off x="7517438" y="2972350"/>
            <a:ext cx="11358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s" sz="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hay alguna variable más importante para predecir el default?</a:t>
            </a:r>
            <a:endParaRPr b="0" i="0" sz="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7" name="Google Shape;377;g3765475c4f0_1_292"/>
          <p:cNvSpPr txBox="1"/>
          <p:nvPr/>
        </p:nvSpPr>
        <p:spPr>
          <a:xfrm>
            <a:off x="7494625" y="2096025"/>
            <a:ext cx="11358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s" sz="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por qué rechacé/acepté una solicitud de crédito?</a:t>
            </a:r>
            <a:endParaRPr b="0" i="0" sz="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8" name="Google Shape;378;g3765475c4f0_1_292"/>
          <p:cNvSpPr/>
          <p:nvPr/>
        </p:nvSpPr>
        <p:spPr>
          <a:xfrm>
            <a:off x="4355275" y="3001338"/>
            <a:ext cx="479188" cy="183513"/>
          </a:xfrm>
          <a:custGeom>
            <a:rect b="b" l="l" r="r" t="t"/>
            <a:pathLst>
              <a:path extrusionOk="0" h="14681" w="38335">
                <a:moveTo>
                  <a:pt x="38335" y="0"/>
                </a:moveTo>
                <a:cubicBezTo>
                  <a:pt x="24652" y="0"/>
                  <a:pt x="6119" y="2442"/>
                  <a:pt x="0" y="14681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g3765475c4f0_1_292"/>
          <p:cNvSpPr/>
          <p:nvPr/>
        </p:nvSpPr>
        <p:spPr>
          <a:xfrm>
            <a:off x="6027300" y="4092225"/>
            <a:ext cx="152925" cy="361925"/>
          </a:xfrm>
          <a:custGeom>
            <a:rect b="b" l="l" r="r" t="t"/>
            <a:pathLst>
              <a:path extrusionOk="0" h="28954" w="12234">
                <a:moveTo>
                  <a:pt x="0" y="0"/>
                </a:moveTo>
                <a:cubicBezTo>
                  <a:pt x="0" y="10478"/>
                  <a:pt x="1756" y="28954"/>
                  <a:pt x="12234" y="28954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g3765475c4f0_1_292"/>
          <p:cNvSpPr/>
          <p:nvPr/>
        </p:nvSpPr>
        <p:spPr>
          <a:xfrm>
            <a:off x="7153875" y="3516200"/>
            <a:ext cx="351738" cy="168213"/>
          </a:xfrm>
          <a:custGeom>
            <a:rect b="b" l="l" r="r" t="t"/>
            <a:pathLst>
              <a:path extrusionOk="0" h="13457" w="28139">
                <a:moveTo>
                  <a:pt x="0" y="0"/>
                </a:moveTo>
                <a:cubicBezTo>
                  <a:pt x="10397" y="0"/>
                  <a:pt x="28139" y="3060"/>
                  <a:pt x="28139" y="13457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g3765475c4f0_1_292"/>
          <p:cNvSpPr/>
          <p:nvPr/>
        </p:nvSpPr>
        <p:spPr>
          <a:xfrm>
            <a:off x="7077413" y="3087389"/>
            <a:ext cx="463875" cy="36275"/>
          </a:xfrm>
          <a:custGeom>
            <a:rect b="b" l="l" r="r" t="t"/>
            <a:pathLst>
              <a:path extrusionOk="0" h="2902" w="37110">
                <a:moveTo>
                  <a:pt x="0" y="1680"/>
                </a:moveTo>
                <a:cubicBezTo>
                  <a:pt x="12377" y="1680"/>
                  <a:pt x="26043" y="-2637"/>
                  <a:pt x="37110" y="2903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g3765475c4f0_1_292"/>
          <p:cNvSpPr/>
          <p:nvPr/>
        </p:nvSpPr>
        <p:spPr>
          <a:xfrm>
            <a:off x="7204850" y="2104150"/>
            <a:ext cx="316050" cy="152938"/>
          </a:xfrm>
          <a:custGeom>
            <a:rect b="b" l="l" r="r" t="t"/>
            <a:pathLst>
              <a:path extrusionOk="0" h="12235" w="25284">
                <a:moveTo>
                  <a:pt x="0" y="0"/>
                </a:moveTo>
                <a:cubicBezTo>
                  <a:pt x="9363" y="0"/>
                  <a:pt x="18667" y="5610"/>
                  <a:pt x="25284" y="12235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g3765475c4f0_1_292"/>
          <p:cNvSpPr txBox="1"/>
          <p:nvPr/>
        </p:nvSpPr>
        <p:spPr>
          <a:xfrm>
            <a:off x="431325" y="1172813"/>
            <a:ext cx="3706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" sz="3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eso es sólo la punta del iceberg</a:t>
            </a:r>
            <a:endParaRPr b="0" i="0" sz="7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765475c4f0_1_322"/>
          <p:cNvSpPr txBox="1"/>
          <p:nvPr/>
        </p:nvSpPr>
        <p:spPr>
          <a:xfrm>
            <a:off x="656438" y="410014"/>
            <a:ext cx="771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" sz="3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del dato a la toma de decisiones</a:t>
            </a:r>
            <a:endParaRPr b="0" i="0" sz="3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9" name="Google Shape;389;g3765475c4f0_1_322"/>
          <p:cNvSpPr txBox="1"/>
          <p:nvPr/>
        </p:nvSpPr>
        <p:spPr>
          <a:xfrm>
            <a:off x="254025" y="3654475"/>
            <a:ext cx="5206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Y qué más hace un equipo de data?</a:t>
            </a:r>
            <a:endParaRPr b="0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0" name="Google Shape;390;g3765475c4f0_1_322"/>
          <p:cNvSpPr/>
          <p:nvPr/>
        </p:nvSpPr>
        <p:spPr>
          <a:xfrm>
            <a:off x="2407495" y="1636723"/>
            <a:ext cx="353400" cy="369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1" name="Google Shape;391;g3765475c4f0_1_322"/>
          <p:cNvGrpSpPr/>
          <p:nvPr/>
        </p:nvGrpSpPr>
        <p:grpSpPr>
          <a:xfrm>
            <a:off x="1264450" y="1333498"/>
            <a:ext cx="1310403" cy="1897975"/>
            <a:chOff x="519875" y="1948510"/>
            <a:chExt cx="1310403" cy="1897975"/>
          </a:xfrm>
        </p:grpSpPr>
        <p:sp>
          <p:nvSpPr>
            <p:cNvPr id="392" name="Google Shape;392;g3765475c4f0_1_322"/>
            <p:cNvSpPr/>
            <p:nvPr/>
          </p:nvSpPr>
          <p:spPr>
            <a:xfrm>
              <a:off x="877947" y="1948510"/>
              <a:ext cx="594300" cy="5943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g3765475c4f0_1_322"/>
            <p:cNvSpPr txBox="1"/>
            <p:nvPr/>
          </p:nvSpPr>
          <p:spPr>
            <a:xfrm>
              <a:off x="858900" y="2044375"/>
              <a:ext cx="6324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s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⛏🪏</a:t>
              </a:r>
              <a:endParaRPr b="1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94" name="Google Shape;394;g3765475c4f0_1_322"/>
            <p:cNvSpPr txBox="1"/>
            <p:nvPr/>
          </p:nvSpPr>
          <p:spPr>
            <a:xfrm>
              <a:off x="519878" y="2652285"/>
              <a:ext cx="13104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s" sz="10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Ingesta</a:t>
              </a:r>
              <a:endParaRPr b="1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95" name="Google Shape;395;g3765475c4f0_1_322"/>
            <p:cNvSpPr txBox="1"/>
            <p:nvPr/>
          </p:nvSpPr>
          <p:spPr>
            <a:xfrm>
              <a:off x="519875" y="3109085"/>
              <a:ext cx="13104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s" sz="8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Recolección de datos desde diferentes fuentes (APIs, bases de datos, archivos, sensores, etc.)</a:t>
              </a:r>
              <a:endParaRPr b="0" i="0" sz="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96" name="Google Shape;396;g3765475c4f0_1_322"/>
          <p:cNvGrpSpPr/>
          <p:nvPr/>
        </p:nvGrpSpPr>
        <p:grpSpPr>
          <a:xfrm>
            <a:off x="2593515" y="1333498"/>
            <a:ext cx="1310400" cy="1897975"/>
            <a:chOff x="1848940" y="1948510"/>
            <a:chExt cx="1310400" cy="1897975"/>
          </a:xfrm>
        </p:grpSpPr>
        <p:sp>
          <p:nvSpPr>
            <p:cNvPr id="397" name="Google Shape;397;g3765475c4f0_1_322"/>
            <p:cNvSpPr/>
            <p:nvPr/>
          </p:nvSpPr>
          <p:spPr>
            <a:xfrm>
              <a:off x="2206990" y="1948510"/>
              <a:ext cx="594300" cy="5943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g3765475c4f0_1_322"/>
            <p:cNvSpPr txBox="1"/>
            <p:nvPr/>
          </p:nvSpPr>
          <p:spPr>
            <a:xfrm>
              <a:off x="1848940" y="2652285"/>
              <a:ext cx="13104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s" sz="10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Almacenamiento</a:t>
              </a:r>
              <a:endParaRPr b="1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99" name="Google Shape;399;g3765475c4f0_1_322"/>
            <p:cNvSpPr txBox="1"/>
            <p:nvPr/>
          </p:nvSpPr>
          <p:spPr>
            <a:xfrm>
              <a:off x="1848940" y="3109085"/>
              <a:ext cx="13104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s" sz="8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Guarda los datos en un repositorio central (data lake, data warehouse, cloud) para su posterior acceso y uso.</a:t>
              </a:r>
              <a:endParaRPr b="0" i="0" sz="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00" name="Google Shape;400;g3765475c4f0_1_322"/>
            <p:cNvSpPr txBox="1"/>
            <p:nvPr/>
          </p:nvSpPr>
          <p:spPr>
            <a:xfrm>
              <a:off x="2263293" y="2085163"/>
              <a:ext cx="4941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s" sz="10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💾☁</a:t>
              </a:r>
              <a:endParaRPr b="1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01" name="Google Shape;401;g3765475c4f0_1_322"/>
          <p:cNvGrpSpPr/>
          <p:nvPr/>
        </p:nvGrpSpPr>
        <p:grpSpPr>
          <a:xfrm>
            <a:off x="3922609" y="1333498"/>
            <a:ext cx="1359902" cy="1897974"/>
            <a:chOff x="3178034" y="1948510"/>
            <a:chExt cx="1359902" cy="1897974"/>
          </a:xfrm>
        </p:grpSpPr>
        <p:sp>
          <p:nvSpPr>
            <p:cNvPr id="402" name="Google Shape;402;g3765475c4f0_1_322"/>
            <p:cNvSpPr/>
            <p:nvPr/>
          </p:nvSpPr>
          <p:spPr>
            <a:xfrm>
              <a:off x="3560827" y="1948510"/>
              <a:ext cx="594300" cy="5943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g3765475c4f0_1_322"/>
            <p:cNvSpPr txBox="1"/>
            <p:nvPr/>
          </p:nvSpPr>
          <p:spPr>
            <a:xfrm>
              <a:off x="3178034" y="2652285"/>
              <a:ext cx="13599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s" sz="10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Procesamiento y</a:t>
              </a:r>
              <a:endParaRPr b="1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s" sz="10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Transformación</a:t>
              </a:r>
              <a:endParaRPr b="1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04" name="Google Shape;404;g3765475c4f0_1_322"/>
            <p:cNvSpPr txBox="1"/>
            <p:nvPr/>
          </p:nvSpPr>
          <p:spPr>
            <a:xfrm>
              <a:off x="3178036" y="3109084"/>
              <a:ext cx="13599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s" sz="8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Limpieza, validación, normalización y estructuración de datos para que sean consistentes y útiles. </a:t>
              </a:r>
              <a:endParaRPr b="0" i="0" sz="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05" name="Google Shape;405;g3765475c4f0_1_322"/>
            <p:cNvSpPr txBox="1"/>
            <p:nvPr/>
          </p:nvSpPr>
          <p:spPr>
            <a:xfrm>
              <a:off x="3639577" y="2071585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s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⚙️</a:t>
              </a:r>
              <a:endParaRPr b="1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06" name="Google Shape;406;g3765475c4f0_1_322"/>
          <p:cNvGrpSpPr/>
          <p:nvPr/>
        </p:nvGrpSpPr>
        <p:grpSpPr>
          <a:xfrm>
            <a:off x="5302225" y="1333498"/>
            <a:ext cx="1310403" cy="1897975"/>
            <a:chOff x="4557650" y="1948510"/>
            <a:chExt cx="1310403" cy="1897975"/>
          </a:xfrm>
        </p:grpSpPr>
        <p:sp>
          <p:nvSpPr>
            <p:cNvPr id="407" name="Google Shape;407;g3765475c4f0_1_322"/>
            <p:cNvSpPr/>
            <p:nvPr/>
          </p:nvSpPr>
          <p:spPr>
            <a:xfrm>
              <a:off x="4915703" y="1948510"/>
              <a:ext cx="594300" cy="5943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g3765475c4f0_1_322"/>
            <p:cNvSpPr txBox="1"/>
            <p:nvPr/>
          </p:nvSpPr>
          <p:spPr>
            <a:xfrm>
              <a:off x="4557650" y="2652285"/>
              <a:ext cx="13104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s" sz="10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Analisis, Modelado</a:t>
              </a:r>
              <a:endParaRPr b="1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09" name="Google Shape;409;g3765475c4f0_1_322"/>
            <p:cNvSpPr txBox="1"/>
            <p:nvPr/>
          </p:nvSpPr>
          <p:spPr>
            <a:xfrm>
              <a:off x="4557653" y="3109085"/>
              <a:ext cx="13104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s" sz="8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Uso de herramientas estadísticas, visualizaciones y modelos predictivos o descriptivos para extraer insights</a:t>
              </a:r>
              <a:endParaRPr b="0" i="0" sz="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10" name="Google Shape;410;g3765475c4f0_1_322"/>
            <p:cNvSpPr txBox="1"/>
            <p:nvPr/>
          </p:nvSpPr>
          <p:spPr>
            <a:xfrm>
              <a:off x="4994453" y="2071585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s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📊</a:t>
              </a:r>
              <a:endParaRPr b="1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11" name="Google Shape;411;g3765475c4f0_1_322"/>
          <p:cNvGrpSpPr/>
          <p:nvPr/>
        </p:nvGrpSpPr>
        <p:grpSpPr>
          <a:xfrm>
            <a:off x="6632375" y="1333498"/>
            <a:ext cx="1359906" cy="1897975"/>
            <a:chOff x="5887800" y="1948510"/>
            <a:chExt cx="1359906" cy="1897975"/>
          </a:xfrm>
        </p:grpSpPr>
        <p:sp>
          <p:nvSpPr>
            <p:cNvPr id="412" name="Google Shape;412;g3765475c4f0_1_322"/>
            <p:cNvSpPr/>
            <p:nvPr/>
          </p:nvSpPr>
          <p:spPr>
            <a:xfrm>
              <a:off x="6270606" y="1948510"/>
              <a:ext cx="594300" cy="5943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g3765475c4f0_1_322"/>
            <p:cNvSpPr txBox="1"/>
            <p:nvPr/>
          </p:nvSpPr>
          <p:spPr>
            <a:xfrm>
              <a:off x="5887800" y="2652285"/>
              <a:ext cx="13599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s" sz="10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Toma de decisiones</a:t>
              </a:r>
              <a:endParaRPr b="1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14" name="Google Shape;414;g3765475c4f0_1_322"/>
            <p:cNvSpPr txBox="1"/>
            <p:nvPr/>
          </p:nvSpPr>
          <p:spPr>
            <a:xfrm>
              <a:off x="5887806" y="3109085"/>
              <a:ext cx="13599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s" sz="8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Aplicar los hallazgos para definir acciones de negocio, cambios operativos o estrategias futuras.</a:t>
              </a:r>
              <a:endParaRPr b="0" i="0" sz="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15" name="Google Shape;415;g3765475c4f0_1_322"/>
            <p:cNvSpPr txBox="1"/>
            <p:nvPr/>
          </p:nvSpPr>
          <p:spPr>
            <a:xfrm>
              <a:off x="6349356" y="2071585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s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🎯 </a:t>
              </a:r>
              <a:endParaRPr b="1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16" name="Google Shape;416;g3765475c4f0_1_322"/>
          <p:cNvSpPr/>
          <p:nvPr/>
        </p:nvSpPr>
        <p:spPr>
          <a:xfrm>
            <a:off x="3748932" y="1636723"/>
            <a:ext cx="353400" cy="369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g3765475c4f0_1_322"/>
          <p:cNvSpPr/>
          <p:nvPr/>
        </p:nvSpPr>
        <p:spPr>
          <a:xfrm>
            <a:off x="5103295" y="1636723"/>
            <a:ext cx="353400" cy="369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g3765475c4f0_1_322"/>
          <p:cNvSpPr/>
          <p:nvPr/>
        </p:nvSpPr>
        <p:spPr>
          <a:xfrm>
            <a:off x="6458170" y="1636723"/>
            <a:ext cx="353400" cy="369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g3765475c4f0_1_322"/>
          <p:cNvSpPr txBox="1"/>
          <p:nvPr/>
        </p:nvSpPr>
        <p:spPr>
          <a:xfrm>
            <a:off x="347675" y="4021350"/>
            <a:ext cx="1362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Data Governance</a:t>
            </a:r>
            <a:endParaRPr b="1"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0" name="Google Shape;420;g3765475c4f0_1_322"/>
          <p:cNvSpPr txBox="1"/>
          <p:nvPr/>
        </p:nvSpPr>
        <p:spPr>
          <a:xfrm>
            <a:off x="488000" y="4213350"/>
            <a:ext cx="112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Calidad de los datos, seguridad y privacidad, metadata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g3765475c4f0_1_322"/>
          <p:cNvSpPr txBox="1"/>
          <p:nvPr/>
        </p:nvSpPr>
        <p:spPr>
          <a:xfrm>
            <a:off x="2013388" y="4021350"/>
            <a:ext cx="1362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MLOps</a:t>
            </a:r>
            <a:endParaRPr b="1"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2" name="Google Shape;422;g3765475c4f0_1_322"/>
          <p:cNvSpPr txBox="1"/>
          <p:nvPr/>
        </p:nvSpPr>
        <p:spPr>
          <a:xfrm>
            <a:off x="2101863" y="4213350"/>
            <a:ext cx="1189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Implementación, monitoreo y mantenimiento de modelos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g3765475c4f0_1_322"/>
          <p:cNvSpPr txBox="1"/>
          <p:nvPr/>
        </p:nvSpPr>
        <p:spPr>
          <a:xfrm>
            <a:off x="3776700" y="4021350"/>
            <a:ext cx="1362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Costos</a:t>
            </a:r>
            <a:endParaRPr b="1"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4" name="Google Shape;424;g3765475c4f0_1_322"/>
          <p:cNvSpPr txBox="1"/>
          <p:nvPr/>
        </p:nvSpPr>
        <p:spPr>
          <a:xfrm>
            <a:off x="3917025" y="4213350"/>
            <a:ext cx="112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Vela por los costos de almacenamiento, procesamiento, etc.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g3765475c4f0_1_322"/>
          <p:cNvSpPr txBox="1"/>
          <p:nvPr/>
        </p:nvSpPr>
        <p:spPr>
          <a:xfrm>
            <a:off x="5572738" y="4007950"/>
            <a:ext cx="136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Visualización de la información</a:t>
            </a:r>
            <a:endParaRPr b="1"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6" name="Google Shape;426;g3765475c4f0_1_322"/>
          <p:cNvSpPr txBox="1"/>
          <p:nvPr/>
        </p:nvSpPr>
        <p:spPr>
          <a:xfrm>
            <a:off x="7231750" y="3982500"/>
            <a:ext cx="144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Proveer herramientas y ser “Fuente de la verdad”</a:t>
            </a:r>
            <a:endParaRPr b="1"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765475c4f0_1_364"/>
          <p:cNvSpPr txBox="1"/>
          <p:nvPr/>
        </p:nvSpPr>
        <p:spPr>
          <a:xfrm>
            <a:off x="295275" y="385763"/>
            <a:ext cx="771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" sz="3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Los distintos roles dentro de “data”</a:t>
            </a:r>
            <a:endParaRPr b="0" i="0" sz="3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32" name="Google Shape;432;g3765475c4f0_1_364"/>
          <p:cNvGrpSpPr/>
          <p:nvPr/>
        </p:nvGrpSpPr>
        <p:grpSpPr>
          <a:xfrm>
            <a:off x="1643569" y="123767"/>
            <a:ext cx="5398393" cy="2724269"/>
            <a:chOff x="2777197" y="254867"/>
            <a:chExt cx="12093174" cy="6102753"/>
          </a:xfrm>
        </p:grpSpPr>
        <p:pic>
          <p:nvPicPr>
            <p:cNvPr id="433" name="Google Shape;433;g3765475c4f0_1_364" title="ChatGPT Image 16 ago 2025, 04_32_32 p.m..png"/>
            <p:cNvPicPr preferRelativeResize="0"/>
            <p:nvPr/>
          </p:nvPicPr>
          <p:blipFill rotWithShape="1">
            <a:blip r:embed="rId3">
              <a:alphaModFix/>
            </a:blip>
            <a:srcRect b="24305" l="0" r="0" t="0"/>
            <a:stretch/>
          </p:blipFill>
          <p:spPr>
            <a:xfrm>
              <a:off x="2777197" y="254867"/>
              <a:ext cx="12093174" cy="61027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4" name="Google Shape;434;g3765475c4f0_1_364" title="Captura de pantalla 2025-08-16 a la(s) 4.36.08 p. m..png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906650" y="4737950"/>
              <a:ext cx="1281225" cy="12545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35" name="Google Shape;435;g3765475c4f0_1_364"/>
          <p:cNvSpPr txBox="1"/>
          <p:nvPr/>
        </p:nvSpPr>
        <p:spPr>
          <a:xfrm>
            <a:off x="199838" y="2112438"/>
            <a:ext cx="1362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Ingeniero de datos</a:t>
            </a:r>
            <a:endParaRPr b="1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6" name="Google Shape;436;g3765475c4f0_1_364"/>
          <p:cNvSpPr txBox="1"/>
          <p:nvPr/>
        </p:nvSpPr>
        <p:spPr>
          <a:xfrm>
            <a:off x="1939138" y="3128125"/>
            <a:ext cx="1362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Analytics Engineer</a:t>
            </a:r>
            <a:endParaRPr b="1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7" name="Google Shape;437;g3765475c4f0_1_364"/>
          <p:cNvSpPr txBox="1"/>
          <p:nvPr/>
        </p:nvSpPr>
        <p:spPr>
          <a:xfrm>
            <a:off x="3891975" y="2952438"/>
            <a:ext cx="105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Analista de datos</a:t>
            </a:r>
            <a:endParaRPr b="1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8" name="Google Shape;438;g3765475c4f0_1_364"/>
          <p:cNvSpPr txBox="1"/>
          <p:nvPr/>
        </p:nvSpPr>
        <p:spPr>
          <a:xfrm>
            <a:off x="5628888" y="3102425"/>
            <a:ext cx="1080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Científico de datos</a:t>
            </a:r>
            <a:endParaRPr b="1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9" name="Google Shape;439;g3765475c4f0_1_364"/>
          <p:cNvSpPr txBox="1"/>
          <p:nvPr/>
        </p:nvSpPr>
        <p:spPr>
          <a:xfrm>
            <a:off x="7622675" y="2056938"/>
            <a:ext cx="97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Ingeniero de ML</a:t>
            </a:r>
            <a:endParaRPr b="1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0" name="Google Shape;440;g3765475c4f0_1_364"/>
          <p:cNvSpPr txBox="1"/>
          <p:nvPr/>
        </p:nvSpPr>
        <p:spPr>
          <a:xfrm>
            <a:off x="235525" y="2304438"/>
            <a:ext cx="1362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arquitecto y constructor de la infraestructura de datos. Se encarga de diseñar, construir, y mantener los sistemas que permiten el flujo de datos desde las fuentes de origen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g3765475c4f0_1_364"/>
          <p:cNvSpPr txBox="1"/>
          <p:nvPr/>
        </p:nvSpPr>
        <p:spPr>
          <a:xfrm>
            <a:off x="1888963" y="3327900"/>
            <a:ext cx="1462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 rol híbrido que se sitúa entre el Ingeniero de Datos y el Analista de Datos. Su principal tarea es transformar los datos brutos en "tablas limpias" y modelos de datos que sean fáciles de usar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g3765475c4f0_1_364"/>
          <p:cNvSpPr txBox="1"/>
          <p:nvPr/>
        </p:nvSpPr>
        <p:spPr>
          <a:xfrm>
            <a:off x="3738600" y="3237038"/>
            <a:ext cx="1362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Explora, analiza e interpreta datos para responder preguntas de negocio, crear reportes y visualizaciones, y generar insights accionables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g3765475c4f0_1_364"/>
          <p:cNvSpPr txBox="1"/>
          <p:nvPr/>
        </p:nvSpPr>
        <p:spPr>
          <a:xfrm>
            <a:off x="5451988" y="3351338"/>
            <a:ext cx="13620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Desarrolla modelos estadísticos y de machine learning para predecir, clasificar o segmentar, y traduce problemas de negocio en soluciones basadas en datos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g3765475c4f0_1_364"/>
          <p:cNvSpPr txBox="1"/>
          <p:nvPr/>
        </p:nvSpPr>
        <p:spPr>
          <a:xfrm>
            <a:off x="7429100" y="2364738"/>
            <a:ext cx="13620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Implementa y optimiza modelos de machine learning en entornos productivos, asegurando escalabilidad, rendimiento y mantenimiento de los modelos.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g3765475c4f0_1_364"/>
          <p:cNvSpPr/>
          <p:nvPr/>
        </p:nvSpPr>
        <p:spPr>
          <a:xfrm>
            <a:off x="1169263" y="1515107"/>
            <a:ext cx="627013" cy="508275"/>
          </a:xfrm>
          <a:custGeom>
            <a:rect b="b" l="l" r="r" t="t"/>
            <a:pathLst>
              <a:path extrusionOk="0" h="40662" w="50161">
                <a:moveTo>
                  <a:pt x="50161" y="289"/>
                </a:moveTo>
                <a:cubicBezTo>
                  <a:pt x="40432" y="289"/>
                  <a:pt x="29653" y="-869"/>
                  <a:pt x="21206" y="3959"/>
                </a:cubicBezTo>
                <a:cubicBezTo>
                  <a:pt x="8939" y="10970"/>
                  <a:pt x="0" y="26532"/>
                  <a:pt x="0" y="40662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g3765475c4f0_1_364"/>
          <p:cNvSpPr/>
          <p:nvPr/>
        </p:nvSpPr>
        <p:spPr>
          <a:xfrm>
            <a:off x="3223613" y="2900175"/>
            <a:ext cx="57725" cy="259975"/>
          </a:xfrm>
          <a:custGeom>
            <a:rect b="b" l="l" r="r" t="t"/>
            <a:pathLst>
              <a:path extrusionOk="0" h="20798" w="4618">
                <a:moveTo>
                  <a:pt x="4486" y="0"/>
                </a:moveTo>
                <a:cubicBezTo>
                  <a:pt x="4486" y="7092"/>
                  <a:pt x="5015" y="15783"/>
                  <a:pt x="0" y="2079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g3765475c4f0_1_364"/>
          <p:cNvSpPr/>
          <p:nvPr/>
        </p:nvSpPr>
        <p:spPr>
          <a:xfrm>
            <a:off x="6995850" y="1467193"/>
            <a:ext cx="1254013" cy="591862"/>
          </a:xfrm>
          <a:custGeom>
            <a:rect b="b" l="l" r="r" t="t"/>
            <a:pathLst>
              <a:path extrusionOk="0" h="47349" w="100321">
                <a:moveTo>
                  <a:pt x="0" y="2899"/>
                </a:moveTo>
                <a:cubicBezTo>
                  <a:pt x="18761" y="2899"/>
                  <a:pt x="38162" y="-2795"/>
                  <a:pt x="56278" y="2083"/>
                </a:cubicBezTo>
                <a:cubicBezTo>
                  <a:pt x="70279" y="5853"/>
                  <a:pt x="81763" y="17562"/>
                  <a:pt x="90126" y="29407"/>
                </a:cubicBezTo>
                <a:cubicBezTo>
                  <a:pt x="94093" y="35027"/>
                  <a:pt x="100321" y="40471"/>
                  <a:pt x="100321" y="4735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g3765475c4f0_1_364"/>
          <p:cNvSpPr/>
          <p:nvPr/>
        </p:nvSpPr>
        <p:spPr>
          <a:xfrm>
            <a:off x="5398438" y="2844625"/>
            <a:ext cx="177838" cy="326250"/>
          </a:xfrm>
          <a:custGeom>
            <a:rect b="b" l="l" r="r" t="t"/>
            <a:pathLst>
              <a:path extrusionOk="0" h="26100" w="14227">
                <a:moveTo>
                  <a:pt x="363" y="0"/>
                </a:moveTo>
                <a:cubicBezTo>
                  <a:pt x="66" y="4756"/>
                  <a:pt x="-494" y="9812"/>
                  <a:pt x="1179" y="14274"/>
                </a:cubicBezTo>
                <a:cubicBezTo>
                  <a:pt x="3240" y="19771"/>
                  <a:pt x="10077" y="21949"/>
                  <a:pt x="14228" y="2610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g3765475c4f0_1_364"/>
          <p:cNvSpPr/>
          <p:nvPr/>
        </p:nvSpPr>
        <p:spPr>
          <a:xfrm>
            <a:off x="4314500" y="2788025"/>
            <a:ext cx="45875" cy="178413"/>
          </a:xfrm>
          <a:custGeom>
            <a:rect b="b" l="l" r="r" t="t"/>
            <a:pathLst>
              <a:path extrusionOk="0" h="14273" w="3670">
                <a:moveTo>
                  <a:pt x="3670" y="0"/>
                </a:moveTo>
                <a:cubicBezTo>
                  <a:pt x="3670" y="4912"/>
                  <a:pt x="2199" y="9880"/>
                  <a:pt x="0" y="14273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g3765475c4f0_1_364"/>
          <p:cNvSpPr txBox="1"/>
          <p:nvPr/>
        </p:nvSpPr>
        <p:spPr>
          <a:xfrm>
            <a:off x="5156425" y="4324175"/>
            <a:ext cx="376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Qué otros roles puede haber?</a:t>
            </a:r>
            <a:endParaRPr b="0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77800" lvl="0" marL="2286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"/>
              <a:buChar char="-"/>
            </a:pPr>
            <a:r>
              <a:rPr b="0" i="0" lang="es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BI Developer</a:t>
            </a:r>
            <a:endParaRPr b="0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77800" lvl="0" marL="2286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"/>
              <a:buChar char="-"/>
            </a:pPr>
            <a:r>
              <a:rPr b="0" i="0" lang="es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Data Steward/Data governance</a:t>
            </a:r>
            <a:endParaRPr b="0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77800" lvl="0" marL="2286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"/>
              <a:buChar char="-"/>
            </a:pPr>
            <a:r>
              <a:rPr b="0" i="0" lang="es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AI Engineer</a:t>
            </a:r>
            <a:endParaRPr b="0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765475c4f0_1_387"/>
          <p:cNvSpPr txBox="1"/>
          <p:nvPr/>
        </p:nvSpPr>
        <p:spPr>
          <a:xfrm>
            <a:off x="656438" y="410014"/>
            <a:ext cx="771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" sz="3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del dato a la toma de decisiones</a:t>
            </a:r>
            <a:endParaRPr b="0" i="0" sz="3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6" name="Google Shape;456;g3765475c4f0_1_387"/>
          <p:cNvSpPr/>
          <p:nvPr/>
        </p:nvSpPr>
        <p:spPr>
          <a:xfrm>
            <a:off x="2407495" y="1636723"/>
            <a:ext cx="353400" cy="369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7" name="Google Shape;457;g3765475c4f0_1_387"/>
          <p:cNvGrpSpPr/>
          <p:nvPr/>
        </p:nvGrpSpPr>
        <p:grpSpPr>
          <a:xfrm>
            <a:off x="1264450" y="1333498"/>
            <a:ext cx="1310403" cy="1897975"/>
            <a:chOff x="519875" y="1948510"/>
            <a:chExt cx="1310403" cy="1897975"/>
          </a:xfrm>
        </p:grpSpPr>
        <p:sp>
          <p:nvSpPr>
            <p:cNvPr id="458" name="Google Shape;458;g3765475c4f0_1_387"/>
            <p:cNvSpPr/>
            <p:nvPr/>
          </p:nvSpPr>
          <p:spPr>
            <a:xfrm>
              <a:off x="877947" y="1948510"/>
              <a:ext cx="594300" cy="5943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g3765475c4f0_1_387"/>
            <p:cNvSpPr txBox="1"/>
            <p:nvPr/>
          </p:nvSpPr>
          <p:spPr>
            <a:xfrm>
              <a:off x="858900" y="2044375"/>
              <a:ext cx="6324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s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⛏🪏</a:t>
              </a:r>
              <a:endParaRPr b="1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0" name="Google Shape;460;g3765475c4f0_1_387"/>
            <p:cNvSpPr txBox="1"/>
            <p:nvPr/>
          </p:nvSpPr>
          <p:spPr>
            <a:xfrm>
              <a:off x="519878" y="2652285"/>
              <a:ext cx="13104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s" sz="10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Ingesta</a:t>
              </a:r>
              <a:endParaRPr b="1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1" name="Google Shape;461;g3765475c4f0_1_387"/>
            <p:cNvSpPr txBox="1"/>
            <p:nvPr/>
          </p:nvSpPr>
          <p:spPr>
            <a:xfrm>
              <a:off x="519875" y="3109085"/>
              <a:ext cx="13104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s" sz="8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Recolección de datos desde diferentes fuentes (APIs, bases de datos, archivos, sensores, etc.)</a:t>
              </a:r>
              <a:endParaRPr b="0" i="0" sz="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62" name="Google Shape;462;g3765475c4f0_1_387"/>
          <p:cNvGrpSpPr/>
          <p:nvPr/>
        </p:nvGrpSpPr>
        <p:grpSpPr>
          <a:xfrm>
            <a:off x="2593515" y="1333498"/>
            <a:ext cx="1310400" cy="1897975"/>
            <a:chOff x="1848940" y="1948510"/>
            <a:chExt cx="1310400" cy="1897975"/>
          </a:xfrm>
        </p:grpSpPr>
        <p:sp>
          <p:nvSpPr>
            <p:cNvPr id="463" name="Google Shape;463;g3765475c4f0_1_387"/>
            <p:cNvSpPr/>
            <p:nvPr/>
          </p:nvSpPr>
          <p:spPr>
            <a:xfrm>
              <a:off x="2206990" y="1948510"/>
              <a:ext cx="594300" cy="5943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g3765475c4f0_1_387"/>
            <p:cNvSpPr txBox="1"/>
            <p:nvPr/>
          </p:nvSpPr>
          <p:spPr>
            <a:xfrm>
              <a:off x="1848940" y="2652285"/>
              <a:ext cx="13104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s" sz="10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Almacenamiento</a:t>
              </a:r>
              <a:endParaRPr b="1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5" name="Google Shape;465;g3765475c4f0_1_387"/>
            <p:cNvSpPr txBox="1"/>
            <p:nvPr/>
          </p:nvSpPr>
          <p:spPr>
            <a:xfrm>
              <a:off x="1848940" y="3109085"/>
              <a:ext cx="13104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s" sz="8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Guarda los datos en un repositorio central (data lake, data warehouse, cloud) para su posterior acceso y uso.</a:t>
              </a:r>
              <a:endParaRPr b="0" i="0" sz="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6" name="Google Shape;466;g3765475c4f0_1_387"/>
            <p:cNvSpPr txBox="1"/>
            <p:nvPr/>
          </p:nvSpPr>
          <p:spPr>
            <a:xfrm>
              <a:off x="2263293" y="2085163"/>
              <a:ext cx="4941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s" sz="10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💾☁</a:t>
              </a:r>
              <a:endParaRPr b="1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67" name="Google Shape;467;g3765475c4f0_1_387"/>
          <p:cNvGrpSpPr/>
          <p:nvPr/>
        </p:nvGrpSpPr>
        <p:grpSpPr>
          <a:xfrm>
            <a:off x="3922609" y="1333498"/>
            <a:ext cx="1359902" cy="1897974"/>
            <a:chOff x="3178034" y="1948510"/>
            <a:chExt cx="1359902" cy="1897974"/>
          </a:xfrm>
        </p:grpSpPr>
        <p:sp>
          <p:nvSpPr>
            <p:cNvPr id="468" name="Google Shape;468;g3765475c4f0_1_387"/>
            <p:cNvSpPr/>
            <p:nvPr/>
          </p:nvSpPr>
          <p:spPr>
            <a:xfrm>
              <a:off x="3560827" y="1948510"/>
              <a:ext cx="594300" cy="5943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g3765475c4f0_1_387"/>
            <p:cNvSpPr txBox="1"/>
            <p:nvPr/>
          </p:nvSpPr>
          <p:spPr>
            <a:xfrm>
              <a:off x="3178034" y="2652285"/>
              <a:ext cx="13599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s" sz="10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Procesamiento y</a:t>
              </a:r>
              <a:endParaRPr b="1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s" sz="10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Transformación</a:t>
              </a:r>
              <a:endParaRPr b="1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0" name="Google Shape;470;g3765475c4f0_1_387"/>
            <p:cNvSpPr txBox="1"/>
            <p:nvPr/>
          </p:nvSpPr>
          <p:spPr>
            <a:xfrm>
              <a:off x="3178036" y="3109084"/>
              <a:ext cx="13599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s" sz="8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Limpieza, validación, normalización y estructuración de datos para que sean consistentes y útiles. </a:t>
              </a:r>
              <a:endParaRPr b="0" i="0" sz="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1" name="Google Shape;471;g3765475c4f0_1_387"/>
            <p:cNvSpPr txBox="1"/>
            <p:nvPr/>
          </p:nvSpPr>
          <p:spPr>
            <a:xfrm>
              <a:off x="3639577" y="2071585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s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⚙️</a:t>
              </a:r>
              <a:endParaRPr b="1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72" name="Google Shape;472;g3765475c4f0_1_387"/>
          <p:cNvGrpSpPr/>
          <p:nvPr/>
        </p:nvGrpSpPr>
        <p:grpSpPr>
          <a:xfrm>
            <a:off x="5302225" y="1333498"/>
            <a:ext cx="1310403" cy="1897975"/>
            <a:chOff x="4557650" y="1948510"/>
            <a:chExt cx="1310403" cy="1897975"/>
          </a:xfrm>
        </p:grpSpPr>
        <p:sp>
          <p:nvSpPr>
            <p:cNvPr id="473" name="Google Shape;473;g3765475c4f0_1_387"/>
            <p:cNvSpPr/>
            <p:nvPr/>
          </p:nvSpPr>
          <p:spPr>
            <a:xfrm>
              <a:off x="4915703" y="1948510"/>
              <a:ext cx="594300" cy="5943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g3765475c4f0_1_387"/>
            <p:cNvSpPr txBox="1"/>
            <p:nvPr/>
          </p:nvSpPr>
          <p:spPr>
            <a:xfrm>
              <a:off x="4557650" y="2652285"/>
              <a:ext cx="13104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s" sz="10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Analisis, Modelado</a:t>
              </a:r>
              <a:endParaRPr b="1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5" name="Google Shape;475;g3765475c4f0_1_387"/>
            <p:cNvSpPr txBox="1"/>
            <p:nvPr/>
          </p:nvSpPr>
          <p:spPr>
            <a:xfrm>
              <a:off x="4557653" y="3109085"/>
              <a:ext cx="13104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s" sz="8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Uso de herramientas estadísticas, visualizaciones y modelos predictivos o descriptivos para extraer insights</a:t>
              </a:r>
              <a:endParaRPr b="0" i="0" sz="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6" name="Google Shape;476;g3765475c4f0_1_387"/>
            <p:cNvSpPr txBox="1"/>
            <p:nvPr/>
          </p:nvSpPr>
          <p:spPr>
            <a:xfrm>
              <a:off x="4994453" y="2071585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s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📊</a:t>
              </a:r>
              <a:endParaRPr b="1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77" name="Google Shape;477;g3765475c4f0_1_387"/>
          <p:cNvGrpSpPr/>
          <p:nvPr/>
        </p:nvGrpSpPr>
        <p:grpSpPr>
          <a:xfrm>
            <a:off x="6632375" y="1333498"/>
            <a:ext cx="1359906" cy="1897975"/>
            <a:chOff x="5887800" y="1948510"/>
            <a:chExt cx="1359906" cy="1897975"/>
          </a:xfrm>
        </p:grpSpPr>
        <p:sp>
          <p:nvSpPr>
            <p:cNvPr id="478" name="Google Shape;478;g3765475c4f0_1_387"/>
            <p:cNvSpPr/>
            <p:nvPr/>
          </p:nvSpPr>
          <p:spPr>
            <a:xfrm>
              <a:off x="6270606" y="1948510"/>
              <a:ext cx="594300" cy="5943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g3765475c4f0_1_387"/>
            <p:cNvSpPr txBox="1"/>
            <p:nvPr/>
          </p:nvSpPr>
          <p:spPr>
            <a:xfrm>
              <a:off x="5887800" y="2652285"/>
              <a:ext cx="13599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s" sz="10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Toma de decisiones</a:t>
              </a:r>
              <a:endParaRPr b="1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0" name="Google Shape;480;g3765475c4f0_1_387"/>
            <p:cNvSpPr txBox="1"/>
            <p:nvPr/>
          </p:nvSpPr>
          <p:spPr>
            <a:xfrm>
              <a:off x="5887806" y="3109085"/>
              <a:ext cx="13599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s" sz="8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Aplicar los hallazgos para definir acciones de negocio, cambios operativos o estrategias futuras.</a:t>
              </a:r>
              <a:endParaRPr b="0" i="0" sz="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1" name="Google Shape;481;g3765475c4f0_1_387"/>
            <p:cNvSpPr txBox="1"/>
            <p:nvPr/>
          </p:nvSpPr>
          <p:spPr>
            <a:xfrm>
              <a:off x="6349356" y="2071585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s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🎯 </a:t>
              </a:r>
              <a:endParaRPr b="1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82" name="Google Shape;482;g3765475c4f0_1_387"/>
          <p:cNvSpPr/>
          <p:nvPr/>
        </p:nvSpPr>
        <p:spPr>
          <a:xfrm>
            <a:off x="3748932" y="1636723"/>
            <a:ext cx="353400" cy="369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g3765475c4f0_1_387"/>
          <p:cNvSpPr/>
          <p:nvPr/>
        </p:nvSpPr>
        <p:spPr>
          <a:xfrm>
            <a:off x="5103295" y="1636723"/>
            <a:ext cx="353400" cy="369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g3765475c4f0_1_387"/>
          <p:cNvSpPr/>
          <p:nvPr/>
        </p:nvSpPr>
        <p:spPr>
          <a:xfrm>
            <a:off x="6458170" y="1636723"/>
            <a:ext cx="353400" cy="369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5" name="Google Shape;485;g3765475c4f0_1_387" title="ChatGPT Image 16 ago 2025, 04_32_32 p.m..png"/>
          <p:cNvPicPr preferRelativeResize="0"/>
          <p:nvPr/>
        </p:nvPicPr>
        <p:blipFill rotWithShape="1">
          <a:blip r:embed="rId3">
            <a:alphaModFix/>
          </a:blip>
          <a:srcRect b="22790" l="0" r="77654" t="24610"/>
          <a:stretch/>
        </p:blipFill>
        <p:spPr>
          <a:xfrm>
            <a:off x="2286000" y="936144"/>
            <a:ext cx="405416" cy="63615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g3765475c4f0_1_387" title="ChatGPT Image 16 ago 2025, 04_32_32 p.m..png"/>
          <p:cNvPicPr preferRelativeResize="0"/>
          <p:nvPr/>
        </p:nvPicPr>
        <p:blipFill rotWithShape="1">
          <a:blip r:embed="rId3">
            <a:alphaModFix/>
          </a:blip>
          <a:srcRect b="23700" l="22360" r="60392" t="23700"/>
          <a:stretch/>
        </p:blipFill>
        <p:spPr>
          <a:xfrm>
            <a:off x="4065300" y="936150"/>
            <a:ext cx="346295" cy="704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g3765475c4f0_1_387" title="ChatGPT Image 16 ago 2025, 04_32_32 p.m..png"/>
          <p:cNvPicPr preferRelativeResize="0"/>
          <p:nvPr/>
        </p:nvPicPr>
        <p:blipFill rotWithShape="1">
          <a:blip r:embed="rId3">
            <a:alphaModFix/>
          </a:blip>
          <a:srcRect b="23700" l="39838" r="39969" t="23700"/>
          <a:stretch/>
        </p:blipFill>
        <p:spPr>
          <a:xfrm>
            <a:off x="5433750" y="1104100"/>
            <a:ext cx="405412" cy="704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g3765475c4f0_1_387" title="ChatGPT Image 16 ago 2025, 04_32_32 p.m..png"/>
          <p:cNvPicPr preferRelativeResize="0"/>
          <p:nvPr/>
        </p:nvPicPr>
        <p:blipFill rotWithShape="1">
          <a:blip r:embed="rId3">
            <a:alphaModFix/>
          </a:blip>
          <a:srcRect b="23700" l="59640" r="20167" t="23700"/>
          <a:stretch/>
        </p:blipFill>
        <p:spPr>
          <a:xfrm>
            <a:off x="6124819" y="936150"/>
            <a:ext cx="405412" cy="7040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9" name="Google Shape;489;g3765475c4f0_1_387"/>
          <p:cNvGrpSpPr/>
          <p:nvPr/>
        </p:nvGrpSpPr>
        <p:grpSpPr>
          <a:xfrm>
            <a:off x="3014025" y="3510063"/>
            <a:ext cx="373937" cy="704037"/>
            <a:chOff x="5937451" y="6866225"/>
            <a:chExt cx="747875" cy="1408074"/>
          </a:xfrm>
        </p:grpSpPr>
        <p:pic>
          <p:nvPicPr>
            <p:cNvPr id="490" name="Google Shape;490;g3765475c4f0_1_387" title="ChatGPT Image 16 ago 2025, 04_32_32 p.m..png"/>
            <p:cNvPicPr preferRelativeResize="0"/>
            <p:nvPr/>
          </p:nvPicPr>
          <p:blipFill rotWithShape="1">
            <a:blip r:embed="rId3">
              <a:alphaModFix/>
            </a:blip>
            <a:srcRect b="23700" l="79994" r="1381" t="23700"/>
            <a:stretch/>
          </p:blipFill>
          <p:spPr>
            <a:xfrm>
              <a:off x="5937451" y="6866225"/>
              <a:ext cx="747875" cy="14080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1" name="Google Shape;491;g3765475c4f0_1_387" title="Captura de pantalla 2025-08-16 a la(s) 4.36.08 p. m..png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019850" y="7624900"/>
              <a:ext cx="519400" cy="5085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92" name="Google Shape;492;g3765475c4f0_1_387"/>
          <p:cNvSpPr txBox="1"/>
          <p:nvPr/>
        </p:nvSpPr>
        <p:spPr>
          <a:xfrm>
            <a:off x="254025" y="3654475"/>
            <a:ext cx="5206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Y qué más hace un equipo de data?</a:t>
            </a:r>
            <a:endParaRPr b="0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3" name="Google Shape;493;g3765475c4f0_1_387"/>
          <p:cNvSpPr txBox="1"/>
          <p:nvPr/>
        </p:nvSpPr>
        <p:spPr>
          <a:xfrm>
            <a:off x="347675" y="4021350"/>
            <a:ext cx="1362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Data Governance</a:t>
            </a:r>
            <a:endParaRPr b="1"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4" name="Google Shape;494;g3765475c4f0_1_387"/>
          <p:cNvSpPr txBox="1"/>
          <p:nvPr/>
        </p:nvSpPr>
        <p:spPr>
          <a:xfrm>
            <a:off x="488000" y="4213350"/>
            <a:ext cx="112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Calidad de los datos, seguridad y privacidad, metadata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g3765475c4f0_1_387"/>
          <p:cNvSpPr txBox="1"/>
          <p:nvPr/>
        </p:nvSpPr>
        <p:spPr>
          <a:xfrm>
            <a:off x="2013388" y="4021350"/>
            <a:ext cx="1362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MLOps</a:t>
            </a:r>
            <a:endParaRPr b="1"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6" name="Google Shape;496;g3765475c4f0_1_387"/>
          <p:cNvSpPr txBox="1"/>
          <p:nvPr/>
        </p:nvSpPr>
        <p:spPr>
          <a:xfrm>
            <a:off x="2101863" y="4213350"/>
            <a:ext cx="1189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Implementación, monitoreo y mantenimiento de modelos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g3765475c4f0_1_387"/>
          <p:cNvSpPr txBox="1"/>
          <p:nvPr/>
        </p:nvSpPr>
        <p:spPr>
          <a:xfrm>
            <a:off x="3776700" y="4021350"/>
            <a:ext cx="1362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Costos</a:t>
            </a:r>
            <a:endParaRPr b="1"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8" name="Google Shape;498;g3765475c4f0_1_387"/>
          <p:cNvSpPr txBox="1"/>
          <p:nvPr/>
        </p:nvSpPr>
        <p:spPr>
          <a:xfrm>
            <a:off x="3917025" y="4213350"/>
            <a:ext cx="112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Vela por los costos de almacenamiento, procesamiento, etc.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g3765475c4f0_1_387"/>
          <p:cNvSpPr txBox="1"/>
          <p:nvPr/>
        </p:nvSpPr>
        <p:spPr>
          <a:xfrm>
            <a:off x="5572738" y="4007950"/>
            <a:ext cx="136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Visualización de la información</a:t>
            </a:r>
            <a:endParaRPr b="1"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0" name="Google Shape;500;g3765475c4f0_1_387"/>
          <p:cNvSpPr txBox="1"/>
          <p:nvPr/>
        </p:nvSpPr>
        <p:spPr>
          <a:xfrm>
            <a:off x="7231750" y="3982500"/>
            <a:ext cx="144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Proveer herramientas y ser “Fuente de la verdad”</a:t>
            </a:r>
            <a:endParaRPr b="1"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765475c4f0_1_436"/>
          <p:cNvSpPr txBox="1"/>
          <p:nvPr/>
        </p:nvSpPr>
        <p:spPr>
          <a:xfrm>
            <a:off x="714375" y="652463"/>
            <a:ext cx="7715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qué skills son necesarios para cada uno de los roles?</a:t>
            </a:r>
            <a:endParaRPr b="0" i="0" sz="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06" name="Google Shape;506;g3765475c4f0_1_436" title="Captura de pantalla 2025-08-16 a la(s) 3.12.36 p. m.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238" y="1420400"/>
            <a:ext cx="7490587" cy="214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g3765475c4f0_1_436"/>
          <p:cNvSpPr txBox="1"/>
          <p:nvPr/>
        </p:nvSpPr>
        <p:spPr>
          <a:xfrm>
            <a:off x="739775" y="3804800"/>
            <a:ext cx="7595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Otros skills importantes:</a:t>
            </a:r>
            <a:endParaRPr b="1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77800" lvl="0" marL="2286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"/>
              <a:buChar char="-"/>
            </a:pPr>
            <a:r>
              <a:rPr b="0" i="0" lang="es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Comunicación</a:t>
            </a:r>
            <a:endParaRPr b="0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77800" lvl="0" marL="2286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"/>
              <a:buChar char="-"/>
            </a:pPr>
            <a:r>
              <a:rPr b="0" i="0" lang="es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Gestión del tiempo, priorización</a:t>
            </a:r>
            <a:endParaRPr b="0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77800" lvl="0" marL="2286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"/>
              <a:buChar char="-"/>
            </a:pPr>
            <a:r>
              <a:rPr b="0" i="0" lang="es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Conocimiento del negocio</a:t>
            </a:r>
            <a:endParaRPr b="0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765475c4f0_1_442"/>
          <p:cNvSpPr txBox="1"/>
          <p:nvPr/>
        </p:nvSpPr>
        <p:spPr>
          <a:xfrm>
            <a:off x="371475" y="309563"/>
            <a:ext cx="8145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en la práctica muchos de estos roles están solapados y no todos los skills son indispensables</a:t>
            </a:r>
            <a:endParaRPr b="0" i="0" sz="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13" name="Google Shape;513;g3765475c4f0_1_442" title="Captura de pantalla 2025-08-18 a la(s) 11.08.10 p. m.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863" y="1307188"/>
            <a:ext cx="3066816" cy="2779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g3765475c4f0_1_442" title="Captura de pantalla 2025-08-18 a la(s) 11.09.19 p. m.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89525" y="1307188"/>
            <a:ext cx="3409662" cy="2867462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g3765475c4f0_1_442"/>
          <p:cNvSpPr txBox="1"/>
          <p:nvPr/>
        </p:nvSpPr>
        <p:spPr>
          <a:xfrm>
            <a:off x="2517575" y="4330363"/>
            <a:ext cx="5835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puede ser un buen ejercicio buscar en lugares como linkedin qué se espera de cada rol</a:t>
            </a:r>
            <a:endParaRPr b="0" i="0" sz="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765475c4f0_1_449"/>
          <p:cNvSpPr txBox="1"/>
          <p:nvPr/>
        </p:nvSpPr>
        <p:spPr>
          <a:xfrm>
            <a:off x="714375" y="652463"/>
            <a:ext cx="771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" sz="3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Un día en la vida de un data scientist</a:t>
            </a:r>
            <a:endParaRPr b="0" i="0" sz="3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21" name="Google Shape;521;g3765475c4f0_1_449"/>
          <p:cNvPicPr preferRelativeResize="0"/>
          <p:nvPr/>
        </p:nvPicPr>
        <p:blipFill rotWithShape="1">
          <a:blip r:embed="rId3">
            <a:alphaModFix/>
          </a:blip>
          <a:srcRect b="52937" l="0" r="2200" t="10636"/>
          <a:stretch/>
        </p:blipFill>
        <p:spPr>
          <a:xfrm>
            <a:off x="1063888" y="2063362"/>
            <a:ext cx="2559601" cy="134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g3765475c4f0_1_449"/>
          <p:cNvPicPr preferRelativeResize="0"/>
          <p:nvPr/>
        </p:nvPicPr>
        <p:blipFill rotWithShape="1">
          <a:blip r:embed="rId3">
            <a:alphaModFix/>
          </a:blip>
          <a:srcRect b="8365" l="0" r="2200" t="54518"/>
          <a:stretch/>
        </p:blipFill>
        <p:spPr>
          <a:xfrm>
            <a:off x="4503863" y="2050625"/>
            <a:ext cx="2559601" cy="1371263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g3765475c4f0_1_449"/>
          <p:cNvSpPr txBox="1"/>
          <p:nvPr/>
        </p:nvSpPr>
        <p:spPr>
          <a:xfrm>
            <a:off x="1963300" y="1622175"/>
            <a:ext cx="959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Expectativa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g3765475c4f0_1_449"/>
          <p:cNvSpPr txBox="1"/>
          <p:nvPr/>
        </p:nvSpPr>
        <p:spPr>
          <a:xfrm>
            <a:off x="5303888" y="1622175"/>
            <a:ext cx="959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Realidad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g3765475c4f0_1_449"/>
          <p:cNvSpPr txBox="1"/>
          <p:nvPr/>
        </p:nvSpPr>
        <p:spPr>
          <a:xfrm>
            <a:off x="6373163" y="3487200"/>
            <a:ext cx="13698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s" sz="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¿cómo mido el éxito del proyecto?</a:t>
            </a:r>
            <a:endParaRPr b="0" i="0" sz="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s" sz="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¿cuánto esfuerzo me va a llevar?</a:t>
            </a:r>
            <a:endParaRPr b="0" i="0" sz="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s" sz="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¿cuáles son los entregables?</a:t>
            </a:r>
            <a:endParaRPr b="0" i="0" sz="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s" sz="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¿qué tipo de solución necesito?</a:t>
            </a:r>
            <a:endParaRPr b="0" i="0" sz="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6" name="Google Shape;526;g3765475c4f0_1_449"/>
          <p:cNvSpPr txBox="1"/>
          <p:nvPr/>
        </p:nvSpPr>
        <p:spPr>
          <a:xfrm>
            <a:off x="7013575" y="2326338"/>
            <a:ext cx="11751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s" sz="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los modelos suelen degradarse, variables que en algún momento fueron relevantes, pueden dejar de serlo</a:t>
            </a:r>
            <a:endParaRPr b="0" i="0" sz="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7" name="Google Shape;527;g3765475c4f0_1_449"/>
          <p:cNvSpPr/>
          <p:nvPr/>
        </p:nvSpPr>
        <p:spPr>
          <a:xfrm>
            <a:off x="6200625" y="3439725"/>
            <a:ext cx="209000" cy="341550"/>
          </a:xfrm>
          <a:custGeom>
            <a:rect b="b" l="l" r="r" t="t"/>
            <a:pathLst>
              <a:path extrusionOk="0" h="27324" w="16720">
                <a:moveTo>
                  <a:pt x="0" y="0"/>
                </a:moveTo>
                <a:cubicBezTo>
                  <a:pt x="0" y="8393"/>
                  <a:pt x="4453" y="17126"/>
                  <a:pt x="10603" y="22838"/>
                </a:cubicBezTo>
                <a:cubicBezTo>
                  <a:pt x="12456" y="24559"/>
                  <a:pt x="14191" y="27324"/>
                  <a:pt x="16720" y="27324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g3765475c4f0_1_449"/>
          <p:cNvSpPr/>
          <p:nvPr/>
        </p:nvSpPr>
        <p:spPr>
          <a:xfrm>
            <a:off x="6639013" y="2445688"/>
            <a:ext cx="407813" cy="81563"/>
          </a:xfrm>
          <a:custGeom>
            <a:rect b="b" l="l" r="r" t="t"/>
            <a:pathLst>
              <a:path extrusionOk="0" h="6525" w="32625">
                <a:moveTo>
                  <a:pt x="0" y="6525"/>
                </a:moveTo>
                <a:cubicBezTo>
                  <a:pt x="9594" y="6525"/>
                  <a:pt x="19639" y="6417"/>
                  <a:pt x="28547" y="2855"/>
                </a:cubicBezTo>
                <a:cubicBezTo>
                  <a:pt x="30088" y="2239"/>
                  <a:pt x="32625" y="1659"/>
                  <a:pt x="32625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g3765475c4f0_1_449"/>
          <p:cNvSpPr txBox="1"/>
          <p:nvPr/>
        </p:nvSpPr>
        <p:spPr>
          <a:xfrm>
            <a:off x="3775888" y="2726063"/>
            <a:ext cx="8574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s" sz="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preparación del ‘dataset’</a:t>
            </a:r>
            <a:endParaRPr b="0" i="0" sz="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0" name="Google Shape;530;g3765475c4f0_1_449"/>
          <p:cNvSpPr/>
          <p:nvPr/>
        </p:nvSpPr>
        <p:spPr>
          <a:xfrm>
            <a:off x="4503863" y="2155125"/>
            <a:ext cx="70800" cy="1090800"/>
          </a:xfrm>
          <a:prstGeom prst="leftBrace">
            <a:avLst>
              <a:gd fmla="val 50000" name="adj1"/>
              <a:gd fmla="val 65884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765475c4f0_1_463"/>
          <p:cNvSpPr txBox="1"/>
          <p:nvPr/>
        </p:nvSpPr>
        <p:spPr>
          <a:xfrm>
            <a:off x="714375" y="652463"/>
            <a:ext cx="7715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 síntesis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g3765475c4f0_1_463"/>
          <p:cNvSpPr txBox="1"/>
          <p:nvPr/>
        </p:nvSpPr>
        <p:spPr>
          <a:xfrm>
            <a:off x="659425" y="3894775"/>
            <a:ext cx="36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Además de eso, gran parte de su trabajo está en limpiar, explorar, entender y comunicar los datos</a:t>
            </a:r>
            <a:endParaRPr b="0" i="0" sz="7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7" name="Google Shape;537;g3765475c4f0_1_463"/>
          <p:cNvSpPr txBox="1"/>
          <p:nvPr/>
        </p:nvSpPr>
        <p:spPr>
          <a:xfrm>
            <a:off x="4929188" y="3932873"/>
            <a:ext cx="3500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Trabaja en equipo con otros roles para poder generar valor</a:t>
            </a:r>
            <a:endParaRPr b="0" i="0" sz="7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8" name="Google Shape;538;g3765475c4f0_1_463"/>
          <p:cNvSpPr txBox="1"/>
          <p:nvPr/>
        </p:nvSpPr>
        <p:spPr>
          <a:xfrm>
            <a:off x="659419" y="3652900"/>
            <a:ext cx="3610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ciencia de datos no es solamente hacer modelos</a:t>
            </a:r>
            <a:endParaRPr b="0" i="0" sz="7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9" name="Google Shape;539;g3765475c4f0_1_463"/>
          <p:cNvSpPr txBox="1"/>
          <p:nvPr/>
        </p:nvSpPr>
        <p:spPr>
          <a:xfrm>
            <a:off x="5395200" y="3551513"/>
            <a:ext cx="270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el data scientist es parte de un engranaje mucho más grande</a:t>
            </a:r>
            <a:endParaRPr b="0" i="0" sz="7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40" name="Google Shape;540;g3765475c4f0_1_4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79744" y="1649194"/>
            <a:ext cx="2332712" cy="152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ultitasking (proporcionado por Tenor)" id="541" name="Google Shape;541;g3765475c4f0_1_4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78738" y="1563175"/>
            <a:ext cx="2371725" cy="169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KRELL Federico        TECHINT</dc:creator>
</cp:coreProperties>
</file>